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8" r:id="rId3"/>
    <p:sldId id="257" r:id="rId4"/>
    <p:sldId id="258" r:id="rId5"/>
    <p:sldId id="259" r:id="rId6"/>
    <p:sldId id="260" r:id="rId7"/>
    <p:sldId id="261" r:id="rId8"/>
    <p:sldId id="263" r:id="rId9"/>
    <p:sldId id="265" r:id="rId10"/>
    <p:sldId id="267" r:id="rId11"/>
    <p:sldId id="268" r:id="rId12"/>
    <p:sldId id="269" r:id="rId13"/>
    <p:sldId id="270" r:id="rId14"/>
    <p:sldId id="271" r:id="rId15"/>
    <p:sldId id="277" r:id="rId16"/>
    <p:sldId id="276" r:id="rId17"/>
    <p:sldId id="275"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0" d="100"/>
          <a:sy n="120" d="100"/>
        </p:scale>
        <p:origin x="198"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481081"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490624" y="0"/>
            <a:ext cx="73152"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0080"/>
            <a:ext cx="2092881" cy="246221"/>
          </a:xfrm>
          <a:prstGeom prst="rect">
            <a:avLst/>
          </a:prstGeom>
          <a:noFill/>
        </p:spPr>
        <p:txBody>
          <a:bodyPr wrap="none" lIns="0">
            <a:spAutoFit/>
          </a:bodyPr>
          <a:lstStyle/>
          <a:p>
            <a:pPr algn="l"/>
            <a:r>
              <a:rPr lang="en-US" sz="1000" b="1" dirty="0">
                <a:solidFill>
                  <a:srgbClr val="C9A227"/>
                </a:solidFill>
                <a:latin typeface="Calibri"/>
              </a:rPr>
              <a:t>CSCE526301 - Knowledge Engineering</a:t>
            </a:r>
            <a:endParaRPr sz="1000" b="1" dirty="0">
              <a:solidFill>
                <a:srgbClr val="C9A227"/>
              </a:solidFill>
              <a:latin typeface="Calibri"/>
            </a:endParaRPr>
          </a:p>
        </p:txBody>
      </p:sp>
      <p:sp>
        <p:nvSpPr>
          <p:cNvPr id="5" name="TextBox 4"/>
          <p:cNvSpPr txBox="1"/>
          <p:nvPr/>
        </p:nvSpPr>
        <p:spPr>
          <a:xfrm>
            <a:off x="502920" y="5486400"/>
            <a:ext cx="3200400" cy="914400"/>
          </a:xfrm>
          <a:prstGeom prst="rect">
            <a:avLst/>
          </a:prstGeom>
          <a:noFill/>
        </p:spPr>
        <p:txBody>
          <a:bodyPr wrap="none" lIns="0">
            <a:spAutoFit/>
          </a:bodyPr>
          <a:lstStyle/>
          <a:p>
            <a:r>
              <a:rPr sz="1400" b="1">
                <a:solidFill>
                  <a:srgbClr val="FFFFFF"/>
                </a:solidFill>
                <a:latin typeface="Calibri"/>
              </a:rPr>
              <a:t>Mohamad Jehad Motaz Khachfa</a:t>
            </a:r>
          </a:p>
          <a:p>
            <a:r>
              <a:rPr sz="1200">
                <a:solidFill>
                  <a:srgbClr val="CFD6E0"/>
                </a:solidFill>
                <a:latin typeface="Calibri"/>
              </a:rPr>
              <a:t>ID: 800241913</a:t>
            </a:r>
          </a:p>
          <a:p>
            <a:r>
              <a:rPr sz="1100">
                <a:solidFill>
                  <a:srgbClr val="CFD6E0"/>
                </a:solidFill>
                <a:latin typeface="Calibri"/>
              </a:rPr>
              <a:t>The American University in Cairo</a:t>
            </a:r>
          </a:p>
        </p:txBody>
      </p:sp>
      <p:sp>
        <p:nvSpPr>
          <p:cNvPr id="6" name="TextBox 5"/>
          <p:cNvSpPr txBox="1"/>
          <p:nvPr/>
        </p:nvSpPr>
        <p:spPr>
          <a:xfrm>
            <a:off x="4297680" y="2194560"/>
            <a:ext cx="7498079" cy="2194560"/>
          </a:xfrm>
          <a:prstGeom prst="rect">
            <a:avLst/>
          </a:prstGeom>
          <a:noFill/>
        </p:spPr>
        <p:txBody>
          <a:bodyPr wrap="square" lIns="0">
            <a:spAutoFit/>
          </a:bodyPr>
          <a:lstStyle/>
          <a:p>
            <a:r>
              <a:rPr sz="4000" b="1">
                <a:solidFill>
                  <a:srgbClr val="1F3A5F"/>
                </a:solidFill>
                <a:latin typeface="Calibri"/>
              </a:rPr>
              <a:t>LLM-Powered</a:t>
            </a:r>
          </a:p>
          <a:p>
            <a:r>
              <a:rPr sz="4000" b="1">
                <a:solidFill>
                  <a:srgbClr val="1F3A5F"/>
                </a:solidFill>
                <a:latin typeface="Calibri"/>
              </a:rPr>
              <a:t>Knowledge Graph Extractor</a:t>
            </a:r>
          </a:p>
        </p:txBody>
      </p:sp>
      <p:sp>
        <p:nvSpPr>
          <p:cNvPr id="7" name="TextBox 6"/>
          <p:cNvSpPr txBox="1"/>
          <p:nvPr/>
        </p:nvSpPr>
        <p:spPr>
          <a:xfrm>
            <a:off x="4297680" y="4206240"/>
            <a:ext cx="7498079" cy="1097280"/>
          </a:xfrm>
          <a:prstGeom prst="rect">
            <a:avLst/>
          </a:prstGeom>
          <a:noFill/>
        </p:spPr>
        <p:txBody>
          <a:bodyPr wrap="square" lIns="0">
            <a:spAutoFit/>
          </a:bodyPr>
          <a:lstStyle/>
          <a:p>
            <a:r>
              <a:rPr lang="en-US" sz="1800" dirty="0">
                <a:solidFill>
                  <a:srgbClr val="6B6B6B"/>
                </a:solidFill>
                <a:latin typeface="Calibri"/>
              </a:rPr>
              <a:t>With Provenance, Event Reification,
and Importance-Ranked Visualization</a:t>
            </a:r>
          </a:p>
        </p:txBody>
      </p:sp>
      <p:sp>
        <p:nvSpPr>
          <p:cNvPr id="8" name="TextBox 7"/>
          <p:cNvSpPr txBox="1"/>
          <p:nvPr/>
        </p:nvSpPr>
        <p:spPr>
          <a:xfrm>
            <a:off x="11247120" y="6446520"/>
            <a:ext cx="822960" cy="320040"/>
          </a:xfrm>
          <a:prstGeom prst="rect">
            <a:avLst/>
          </a:prstGeom>
          <a:noFill/>
        </p:spPr>
        <p:txBody>
          <a:bodyPr wrap="none">
            <a:spAutoFit/>
          </a:bodyPr>
          <a:lstStyle/>
          <a:p>
            <a:pPr algn="r"/>
            <a:r>
              <a:rPr sz="900">
                <a:solidFill>
                  <a:srgbClr val="6B6B6B"/>
                </a:solidFill>
                <a:latin typeface="Calibri"/>
              </a:rPr>
              <a:t>1 / 19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r>
              <a:rPr sz="1100" b="1">
                <a:solidFill>
                  <a:srgbClr val="C9A227"/>
                </a:solidFill>
                <a:latin typeface="Calibri"/>
              </a:rPr>
              <a:t>CONTENTS</a:t>
            </a:r>
          </a:p>
        </p:txBody>
      </p:sp>
      <p:sp>
        <p:nvSpPr>
          <p:cNvPr id="4" name="TextBox 3"/>
          <p:cNvSpPr txBox="1"/>
          <p:nvPr/>
        </p:nvSpPr>
        <p:spPr>
          <a:xfrm>
            <a:off x="457200" y="713232"/>
            <a:ext cx="11247120" cy="822960"/>
          </a:xfrm>
          <a:prstGeom prst="rect">
            <a:avLst/>
          </a:prstGeom>
          <a:noFill/>
        </p:spPr>
        <p:txBody>
          <a:bodyPr wrap="none">
            <a:spAutoFit/>
          </a:bodyPr>
          <a:lstStyle/>
          <a:p>
            <a:r>
              <a:rPr sz="3000" b="1">
                <a:solidFill>
                  <a:srgbClr val="1F3A5F"/>
                </a:solidFill>
                <a:latin typeface="Calibri"/>
              </a:rPr>
              <a:t>Table of Contents</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5486400" cy="384048"/>
          </a:xfrm>
          <a:prstGeom prst="rect">
            <a:avLst/>
          </a:prstGeom>
          <a:noFill/>
        </p:spPr>
        <p:txBody>
          <a:bodyPr wrap="none" lIns="0" tIns="38100" rIns="0" bIns="38100">
            <a:spAutoFit/>
          </a:bodyPr>
          <a:lstStyle/>
          <a:p>
            <a:r>
              <a:rPr sz="1500" b="1">
                <a:solidFill>
                  <a:srgbClr val="C9A227"/>
                </a:solidFill>
                <a:latin typeface="Calibri"/>
              </a:rPr>
              <a:t> 3.</a:t>
            </a:r>
            <a:r>
              <a:rPr sz="1500">
                <a:solidFill>
                  <a:srgbClr val="1A1A1A"/>
                </a:solidFill>
                <a:latin typeface="Calibri"/>
              </a:rPr>
              <a:t>   The Problem</a:t>
            </a:r>
          </a:p>
        </p:txBody>
      </p:sp>
      <p:sp>
        <p:nvSpPr>
          <p:cNvPr id="7" name="TextBox 6"/>
          <p:cNvSpPr txBox="1"/>
          <p:nvPr/>
        </p:nvSpPr>
        <p:spPr>
          <a:xfrm>
            <a:off x="548640" y="2212848"/>
            <a:ext cx="5486400" cy="384048"/>
          </a:xfrm>
          <a:prstGeom prst="rect">
            <a:avLst/>
          </a:prstGeom>
          <a:noFill/>
        </p:spPr>
        <p:txBody>
          <a:bodyPr wrap="none" lIns="0" tIns="38100" rIns="0" bIns="38100">
            <a:spAutoFit/>
          </a:bodyPr>
          <a:lstStyle/>
          <a:p>
            <a:r>
              <a:rPr sz="1500" b="1">
                <a:solidFill>
                  <a:srgbClr val="C9A227"/>
                </a:solidFill>
                <a:latin typeface="Calibri"/>
              </a:rPr>
              <a:t> 4.</a:t>
            </a:r>
            <a:r>
              <a:rPr sz="1500">
                <a:solidFill>
                  <a:srgbClr val="1A1A1A"/>
                </a:solidFill>
                <a:latin typeface="Calibri"/>
              </a:rPr>
              <a:t>   A Short History</a:t>
            </a:r>
          </a:p>
        </p:txBody>
      </p:sp>
      <p:sp>
        <p:nvSpPr>
          <p:cNvPr id="8" name="TextBox 7"/>
          <p:cNvSpPr txBox="1"/>
          <p:nvPr/>
        </p:nvSpPr>
        <p:spPr>
          <a:xfrm>
            <a:off x="548640" y="2596896"/>
            <a:ext cx="5486400" cy="384048"/>
          </a:xfrm>
          <a:prstGeom prst="rect">
            <a:avLst/>
          </a:prstGeom>
          <a:noFill/>
        </p:spPr>
        <p:txBody>
          <a:bodyPr wrap="none" lIns="0" tIns="38100" rIns="0" bIns="38100">
            <a:spAutoFit/>
          </a:bodyPr>
          <a:lstStyle/>
          <a:p>
            <a:r>
              <a:rPr sz="1500" b="1">
                <a:solidFill>
                  <a:srgbClr val="C9A227"/>
                </a:solidFill>
                <a:latin typeface="Calibri"/>
              </a:rPr>
              <a:t> 5.</a:t>
            </a:r>
            <a:r>
              <a:rPr sz="1500">
                <a:solidFill>
                  <a:srgbClr val="1A1A1A"/>
                </a:solidFill>
                <a:latin typeface="Calibri"/>
              </a:rPr>
              <a:t>   Project Goals</a:t>
            </a:r>
          </a:p>
        </p:txBody>
      </p:sp>
      <p:sp>
        <p:nvSpPr>
          <p:cNvPr id="9" name="TextBox 8"/>
          <p:cNvSpPr txBox="1"/>
          <p:nvPr/>
        </p:nvSpPr>
        <p:spPr>
          <a:xfrm>
            <a:off x="548640" y="2980944"/>
            <a:ext cx="5486400" cy="384048"/>
          </a:xfrm>
          <a:prstGeom prst="rect">
            <a:avLst/>
          </a:prstGeom>
          <a:noFill/>
        </p:spPr>
        <p:txBody>
          <a:bodyPr wrap="none" lIns="0" tIns="38100" rIns="0" bIns="38100">
            <a:spAutoFit/>
          </a:bodyPr>
          <a:lstStyle/>
          <a:p>
            <a:r>
              <a:rPr sz="1500" b="1">
                <a:solidFill>
                  <a:srgbClr val="C9A227"/>
                </a:solidFill>
                <a:latin typeface="Calibri"/>
              </a:rPr>
              <a:t> 6.</a:t>
            </a:r>
            <a:r>
              <a:rPr sz="1500">
                <a:solidFill>
                  <a:srgbClr val="1A1A1A"/>
                </a:solidFill>
                <a:latin typeface="Calibri"/>
              </a:rPr>
              <a:t>   System Architecture</a:t>
            </a:r>
          </a:p>
        </p:txBody>
      </p:sp>
      <p:sp>
        <p:nvSpPr>
          <p:cNvPr id="10" name="TextBox 9"/>
          <p:cNvSpPr txBox="1"/>
          <p:nvPr/>
        </p:nvSpPr>
        <p:spPr>
          <a:xfrm>
            <a:off x="548640" y="3364992"/>
            <a:ext cx="5486400" cy="384048"/>
          </a:xfrm>
          <a:prstGeom prst="rect">
            <a:avLst/>
          </a:prstGeom>
          <a:noFill/>
        </p:spPr>
        <p:txBody>
          <a:bodyPr wrap="none" lIns="0" tIns="38100" rIns="0" bIns="38100">
            <a:spAutoFit/>
          </a:bodyPr>
          <a:lstStyle/>
          <a:p>
            <a:r>
              <a:rPr sz="1500" b="1">
                <a:solidFill>
                  <a:srgbClr val="C9A227"/>
                </a:solidFill>
                <a:latin typeface="Calibri"/>
              </a:rPr>
              <a:t> 7.</a:t>
            </a:r>
            <a:r>
              <a:rPr sz="1500">
                <a:solidFill>
                  <a:srgbClr val="1A1A1A"/>
                </a:solidFill>
                <a:latin typeface="Calibri"/>
              </a:rPr>
              <a:t>   Hybrid Schema</a:t>
            </a:r>
          </a:p>
        </p:txBody>
      </p:sp>
      <p:sp>
        <p:nvSpPr>
          <p:cNvPr id="11" name="TextBox 10"/>
          <p:cNvSpPr txBox="1"/>
          <p:nvPr/>
        </p:nvSpPr>
        <p:spPr>
          <a:xfrm>
            <a:off x="548640" y="3749040"/>
            <a:ext cx="5486400" cy="384048"/>
          </a:xfrm>
          <a:prstGeom prst="rect">
            <a:avLst/>
          </a:prstGeom>
          <a:noFill/>
        </p:spPr>
        <p:txBody>
          <a:bodyPr wrap="none" lIns="0" tIns="38100" rIns="0" bIns="38100">
            <a:spAutoFit/>
          </a:bodyPr>
          <a:lstStyle/>
          <a:p>
            <a:r>
              <a:rPr sz="1500" b="1">
                <a:solidFill>
                  <a:srgbClr val="C9A227"/>
                </a:solidFill>
                <a:latin typeface="Calibri"/>
              </a:rPr>
              <a:t> 8.</a:t>
            </a:r>
            <a:r>
              <a:rPr sz="1500">
                <a:solidFill>
                  <a:srgbClr val="1A1A1A"/>
                </a:solidFill>
                <a:latin typeface="Calibri"/>
              </a:rPr>
              <a:t>   The Prompt</a:t>
            </a:r>
          </a:p>
        </p:txBody>
      </p:sp>
      <p:sp>
        <p:nvSpPr>
          <p:cNvPr id="12" name="TextBox 11"/>
          <p:cNvSpPr txBox="1"/>
          <p:nvPr/>
        </p:nvSpPr>
        <p:spPr>
          <a:xfrm>
            <a:off x="548640" y="4133088"/>
            <a:ext cx="5486400" cy="384048"/>
          </a:xfrm>
          <a:prstGeom prst="rect">
            <a:avLst/>
          </a:prstGeom>
          <a:noFill/>
        </p:spPr>
        <p:txBody>
          <a:bodyPr wrap="none" lIns="0" tIns="38100" rIns="0" bIns="38100">
            <a:spAutoFit/>
          </a:bodyPr>
          <a:lstStyle/>
          <a:p>
            <a:r>
              <a:rPr sz="1500" b="1">
                <a:solidFill>
                  <a:srgbClr val="C9A227"/>
                </a:solidFill>
                <a:latin typeface="Calibri"/>
              </a:rPr>
              <a:t> 9.</a:t>
            </a:r>
            <a:r>
              <a:rPr sz="1500">
                <a:solidFill>
                  <a:srgbClr val="1A1A1A"/>
                </a:solidFill>
                <a:latin typeface="Calibri"/>
              </a:rPr>
              <a:t>   Aliases and Deduplication</a:t>
            </a:r>
          </a:p>
        </p:txBody>
      </p:sp>
      <p:sp>
        <p:nvSpPr>
          <p:cNvPr id="13" name="TextBox 12"/>
          <p:cNvSpPr txBox="1"/>
          <p:nvPr/>
        </p:nvSpPr>
        <p:spPr>
          <a:xfrm>
            <a:off x="548640" y="4517136"/>
            <a:ext cx="5486400" cy="384048"/>
          </a:xfrm>
          <a:prstGeom prst="rect">
            <a:avLst/>
          </a:prstGeom>
          <a:noFill/>
        </p:spPr>
        <p:txBody>
          <a:bodyPr wrap="none" lIns="0" tIns="38100" rIns="0" bIns="38100">
            <a:spAutoFit/>
          </a:bodyPr>
          <a:lstStyle/>
          <a:p>
            <a:r>
              <a:rPr sz="1500" b="1">
                <a:solidFill>
                  <a:srgbClr val="C9A227"/>
                </a:solidFill>
                <a:latin typeface="Calibri"/>
              </a:rPr>
              <a:t>10.</a:t>
            </a:r>
            <a:r>
              <a:rPr sz="1500">
                <a:solidFill>
                  <a:srgbClr val="1A1A1A"/>
                </a:solidFill>
                <a:latin typeface="Calibri"/>
              </a:rPr>
              <a:t>   Provenance and Output Formats</a:t>
            </a:r>
          </a:p>
        </p:txBody>
      </p:sp>
      <p:sp>
        <p:nvSpPr>
          <p:cNvPr id="14" name="TextBox 13"/>
          <p:cNvSpPr txBox="1"/>
          <p:nvPr/>
        </p:nvSpPr>
        <p:spPr>
          <a:xfrm>
            <a:off x="548640" y="4901184"/>
            <a:ext cx="5486400" cy="384048"/>
          </a:xfrm>
          <a:prstGeom prst="rect">
            <a:avLst/>
          </a:prstGeom>
          <a:noFill/>
        </p:spPr>
        <p:txBody>
          <a:bodyPr wrap="none" lIns="0" tIns="38100" rIns="0" bIns="38100">
            <a:spAutoFit/>
          </a:bodyPr>
          <a:lstStyle/>
          <a:p>
            <a:r>
              <a:rPr sz="1500" b="1">
                <a:solidFill>
                  <a:srgbClr val="C9A227"/>
                </a:solidFill>
                <a:latin typeface="Calibri"/>
              </a:rPr>
              <a:t>11.</a:t>
            </a:r>
            <a:r>
              <a:rPr sz="1500">
                <a:solidFill>
                  <a:srgbClr val="1A1A1A"/>
                </a:solidFill>
                <a:latin typeface="Calibri"/>
              </a:rPr>
              <a:t>   Interactive Visualization</a:t>
            </a:r>
          </a:p>
        </p:txBody>
      </p:sp>
      <p:sp>
        <p:nvSpPr>
          <p:cNvPr id="15" name="TextBox 14"/>
          <p:cNvSpPr txBox="1"/>
          <p:nvPr/>
        </p:nvSpPr>
        <p:spPr>
          <a:xfrm>
            <a:off x="6217920" y="1828800"/>
            <a:ext cx="5486400" cy="384048"/>
          </a:xfrm>
          <a:prstGeom prst="rect">
            <a:avLst/>
          </a:prstGeom>
          <a:noFill/>
        </p:spPr>
        <p:txBody>
          <a:bodyPr wrap="none" lIns="0" tIns="38100" rIns="0" bIns="38100">
            <a:spAutoFit/>
          </a:bodyPr>
          <a:lstStyle/>
          <a:p>
            <a:r>
              <a:rPr sz="1500" b="1">
                <a:solidFill>
                  <a:srgbClr val="C9A227"/>
                </a:solidFill>
                <a:latin typeface="Calibri"/>
              </a:rPr>
              <a:t>12.</a:t>
            </a:r>
            <a:r>
              <a:rPr sz="1500">
                <a:solidFill>
                  <a:srgbClr val="1A1A1A"/>
                </a:solidFill>
                <a:latin typeface="Calibri"/>
              </a:rPr>
              <a:t>   Complexity Slider</a:t>
            </a:r>
          </a:p>
        </p:txBody>
      </p:sp>
      <p:sp>
        <p:nvSpPr>
          <p:cNvPr id="16" name="TextBox 15"/>
          <p:cNvSpPr txBox="1"/>
          <p:nvPr/>
        </p:nvSpPr>
        <p:spPr>
          <a:xfrm>
            <a:off x="6217920" y="2212848"/>
            <a:ext cx="5486400" cy="384048"/>
          </a:xfrm>
          <a:prstGeom prst="rect">
            <a:avLst/>
          </a:prstGeom>
          <a:noFill/>
        </p:spPr>
        <p:txBody>
          <a:bodyPr wrap="none" lIns="0" tIns="38100" rIns="0" bIns="38100">
            <a:spAutoFit/>
          </a:bodyPr>
          <a:lstStyle/>
          <a:p>
            <a:r>
              <a:rPr sz="1500" b="1">
                <a:solidFill>
                  <a:srgbClr val="C9A227"/>
                </a:solidFill>
                <a:latin typeface="Calibri"/>
              </a:rPr>
              <a:t>13.</a:t>
            </a:r>
            <a:r>
              <a:rPr sz="1500">
                <a:solidFill>
                  <a:srgbClr val="1A1A1A"/>
                </a:solidFill>
                <a:latin typeface="Calibri"/>
              </a:rPr>
              <a:t>   Evaluation — Three Passages</a:t>
            </a:r>
          </a:p>
        </p:txBody>
      </p:sp>
      <p:sp>
        <p:nvSpPr>
          <p:cNvPr id="17" name="TextBox 16"/>
          <p:cNvSpPr txBox="1"/>
          <p:nvPr/>
        </p:nvSpPr>
        <p:spPr>
          <a:xfrm>
            <a:off x="6217920" y="2596896"/>
            <a:ext cx="5486400" cy="384048"/>
          </a:xfrm>
          <a:prstGeom prst="rect">
            <a:avLst/>
          </a:prstGeom>
          <a:noFill/>
        </p:spPr>
        <p:txBody>
          <a:bodyPr wrap="none" lIns="0" tIns="38100" rIns="0" bIns="38100">
            <a:spAutoFit/>
          </a:bodyPr>
          <a:lstStyle/>
          <a:p>
            <a:r>
              <a:rPr sz="1500" b="1">
                <a:solidFill>
                  <a:srgbClr val="C9A227"/>
                </a:solidFill>
                <a:latin typeface="Calibri"/>
              </a:rPr>
              <a:t>14.</a:t>
            </a:r>
            <a:r>
              <a:rPr sz="1500">
                <a:solidFill>
                  <a:srgbClr val="1A1A1A"/>
                </a:solidFill>
                <a:latin typeface="Calibri"/>
              </a:rPr>
              <a:t>   Real Example — Microsoft</a:t>
            </a:r>
          </a:p>
        </p:txBody>
      </p:sp>
      <p:sp>
        <p:nvSpPr>
          <p:cNvPr id="18" name="TextBox 17"/>
          <p:cNvSpPr txBox="1"/>
          <p:nvPr/>
        </p:nvSpPr>
        <p:spPr>
          <a:xfrm>
            <a:off x="6217920" y="2980944"/>
            <a:ext cx="5486400" cy="384048"/>
          </a:xfrm>
          <a:prstGeom prst="rect">
            <a:avLst/>
          </a:prstGeom>
          <a:noFill/>
        </p:spPr>
        <p:txBody>
          <a:bodyPr wrap="none" lIns="0" tIns="38100" rIns="0" bIns="38100">
            <a:spAutoFit/>
          </a:bodyPr>
          <a:lstStyle/>
          <a:p>
            <a:r>
              <a:rPr sz="1500" b="1">
                <a:solidFill>
                  <a:srgbClr val="C9A227"/>
                </a:solidFill>
                <a:latin typeface="Calibri"/>
              </a:rPr>
              <a:t>15.</a:t>
            </a:r>
            <a:r>
              <a:rPr sz="1500">
                <a:solidFill>
                  <a:srgbClr val="1A1A1A"/>
                </a:solidFill>
                <a:latin typeface="Calibri"/>
              </a:rPr>
              <a:t>   Real Example — Climate Science</a:t>
            </a:r>
          </a:p>
        </p:txBody>
      </p:sp>
      <p:sp>
        <p:nvSpPr>
          <p:cNvPr id="19" name="TextBox 18"/>
          <p:cNvSpPr txBox="1"/>
          <p:nvPr/>
        </p:nvSpPr>
        <p:spPr>
          <a:xfrm>
            <a:off x="6217920" y="3364992"/>
            <a:ext cx="5486400" cy="384048"/>
          </a:xfrm>
          <a:prstGeom prst="rect">
            <a:avLst/>
          </a:prstGeom>
          <a:noFill/>
        </p:spPr>
        <p:txBody>
          <a:bodyPr wrap="none" lIns="0" tIns="38100" rIns="0" bIns="38100">
            <a:spAutoFit/>
          </a:bodyPr>
          <a:lstStyle/>
          <a:p>
            <a:r>
              <a:rPr sz="1500" b="1">
                <a:solidFill>
                  <a:srgbClr val="C9A227"/>
                </a:solidFill>
                <a:latin typeface="Calibri"/>
              </a:rPr>
              <a:t>16.</a:t>
            </a:r>
            <a:r>
              <a:rPr sz="1500">
                <a:solidFill>
                  <a:srgbClr val="1A1A1A"/>
                </a:solidFill>
                <a:latin typeface="Calibri"/>
              </a:rPr>
              <a:t>   Real Example — Mark Twain</a:t>
            </a:r>
          </a:p>
        </p:txBody>
      </p:sp>
      <p:sp>
        <p:nvSpPr>
          <p:cNvPr id="20" name="TextBox 19"/>
          <p:cNvSpPr txBox="1"/>
          <p:nvPr/>
        </p:nvSpPr>
        <p:spPr>
          <a:xfrm>
            <a:off x="6217920" y="3749040"/>
            <a:ext cx="5486400" cy="384048"/>
          </a:xfrm>
          <a:prstGeom prst="rect">
            <a:avLst/>
          </a:prstGeom>
          <a:noFill/>
        </p:spPr>
        <p:txBody>
          <a:bodyPr wrap="none" lIns="0" tIns="38100" rIns="0" bIns="38100">
            <a:spAutoFit/>
          </a:bodyPr>
          <a:lstStyle/>
          <a:p>
            <a:r>
              <a:rPr sz="1500" b="1">
                <a:solidFill>
                  <a:srgbClr val="C9A227"/>
                </a:solidFill>
                <a:latin typeface="Calibri"/>
              </a:rPr>
              <a:t>17.</a:t>
            </a:r>
            <a:r>
              <a:rPr sz="1500">
                <a:solidFill>
                  <a:srgbClr val="1A1A1A"/>
                </a:solidFill>
                <a:latin typeface="Calibri"/>
              </a:rPr>
              <a:t>   What Worked</a:t>
            </a:r>
          </a:p>
        </p:txBody>
      </p:sp>
      <p:sp>
        <p:nvSpPr>
          <p:cNvPr id="21" name="TextBox 20"/>
          <p:cNvSpPr txBox="1"/>
          <p:nvPr/>
        </p:nvSpPr>
        <p:spPr>
          <a:xfrm>
            <a:off x="6217920" y="4133088"/>
            <a:ext cx="5486400" cy="384048"/>
          </a:xfrm>
          <a:prstGeom prst="rect">
            <a:avLst/>
          </a:prstGeom>
          <a:noFill/>
        </p:spPr>
        <p:txBody>
          <a:bodyPr wrap="none" lIns="0" tIns="38100" rIns="0" bIns="38100">
            <a:spAutoFit/>
          </a:bodyPr>
          <a:lstStyle/>
          <a:p>
            <a:r>
              <a:rPr sz="1500" b="1">
                <a:solidFill>
                  <a:srgbClr val="C9A227"/>
                </a:solidFill>
                <a:latin typeface="Calibri"/>
              </a:rPr>
              <a:t>18.</a:t>
            </a:r>
            <a:r>
              <a:rPr sz="1500">
                <a:solidFill>
                  <a:srgbClr val="1A1A1A"/>
                </a:solidFill>
                <a:latin typeface="Calibri"/>
              </a:rPr>
              <a:t>   Future Work</a:t>
            </a:r>
          </a:p>
        </p:txBody>
      </p:sp>
      <p:sp>
        <p:nvSpPr>
          <p:cNvPr id="22" name="TextBox 21"/>
          <p:cNvSpPr txBox="1"/>
          <p:nvPr/>
        </p:nvSpPr>
        <p:spPr>
          <a:xfrm>
            <a:off x="6217920" y="4517136"/>
            <a:ext cx="5486400" cy="384048"/>
          </a:xfrm>
          <a:prstGeom prst="rect">
            <a:avLst/>
          </a:prstGeom>
          <a:noFill/>
        </p:spPr>
        <p:txBody>
          <a:bodyPr wrap="none" lIns="0" tIns="38100" rIns="0" bIns="38100">
            <a:spAutoFit/>
          </a:bodyPr>
          <a:lstStyle/>
          <a:p>
            <a:r>
              <a:rPr sz="1500" b="1">
                <a:solidFill>
                  <a:srgbClr val="C9A227"/>
                </a:solidFill>
                <a:latin typeface="Calibri"/>
              </a:rPr>
              <a:t>19.</a:t>
            </a:r>
            <a:r>
              <a:rPr sz="1500">
                <a:solidFill>
                  <a:srgbClr val="1A1A1A"/>
                </a:solidFill>
                <a:latin typeface="Calibri"/>
              </a:rPr>
              <a:t>   Summary</a:t>
            </a:r>
          </a:p>
        </p:txBody>
      </p:sp>
      <p:sp>
        <p:nvSpPr>
          <p:cNvPr id="23" name="TextBox 22"/>
          <p:cNvSpPr txBox="1"/>
          <p:nvPr/>
        </p:nvSpPr>
        <p:spPr>
          <a:xfrm>
            <a:off x="365760" y="6446520"/>
            <a:ext cx="5486400" cy="320040"/>
          </a:xfrm>
          <a:prstGeom prst="rect">
            <a:avLst/>
          </a:prstGeom>
          <a:noFill/>
        </p:spPr>
        <p:txBody>
          <a:bodyPr wrap="none">
            <a:spAutoFit/>
          </a:bodyPr>
          <a:lstStyle/>
          <a:p>
            <a:r>
              <a:rPr sz="900">
                <a:solidFill>
                  <a:srgbClr val="6B6B6B"/>
                </a:solidFill>
                <a:latin typeface="Calibri"/>
              </a:rPr>
              <a:t>CSCE526301  ·  LLM-Powered Knowledge Graph Extractor</a:t>
            </a:r>
          </a:p>
        </p:txBody>
      </p:sp>
      <p:sp>
        <p:nvSpPr>
          <p:cNvPr id="24" name="TextBox 23"/>
          <p:cNvSpPr txBox="1"/>
          <p:nvPr/>
        </p:nvSpPr>
        <p:spPr>
          <a:xfrm>
            <a:off x="11247120" y="6446520"/>
            <a:ext cx="822960" cy="320040"/>
          </a:xfrm>
          <a:prstGeom prst="rect">
            <a:avLst/>
          </a:prstGeom>
          <a:noFill/>
        </p:spPr>
        <p:txBody>
          <a:bodyPr wrap="none">
            <a:spAutoFit/>
          </a:bodyPr>
          <a:lstStyle/>
          <a:p>
            <a:pPr algn="r"/>
            <a:r>
              <a:rPr sz="900">
                <a:solidFill>
                  <a:srgbClr val="6B6B6B"/>
                </a:solidFill>
                <a:latin typeface="Calibri"/>
              </a:rPr>
              <a:t>2 / 19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MOTIVATION</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The Problem</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4389120"/>
          </a:xfrm>
          <a:prstGeom prst="rect">
            <a:avLst/>
          </a:prstGeom>
          <a:noFill/>
        </p:spPr>
        <p:txBody>
          <a:bodyPr wrap="square" lIns="0">
            <a:spAutoFit/>
          </a:bodyPr>
          <a:lstStyle/>
          <a:p>
            <a:pPr algn="l">
              <a:spcAft>
                <a:spcPts val="800"/>
              </a:spcAft>
            </a:pPr>
            <a:r>
              <a:rPr sz="1800" b="1" dirty="0">
                <a:solidFill>
                  <a:srgbClr val="C9A227"/>
                </a:solidFill>
                <a:latin typeface="Calibri"/>
              </a:rPr>
              <a:t>•  </a:t>
            </a:r>
            <a:r>
              <a:rPr sz="1800" b="1" dirty="0">
                <a:solidFill>
                  <a:srgbClr val="1F3A5F"/>
                </a:solidFill>
                <a:latin typeface="Calibri"/>
              </a:rPr>
              <a:t>Knowledge Acquisition Bottleneck</a:t>
            </a:r>
            <a:r>
              <a:rPr sz="1800" dirty="0">
                <a:solidFill>
                  <a:srgbClr val="1A1A1A"/>
                </a:solidFill>
                <a:latin typeface="Calibri"/>
              </a:rPr>
              <a:t>  (Feigenbaum, 1977)</a:t>
            </a:r>
          </a:p>
          <a:p>
            <a:pPr algn="l">
              <a:spcAft>
                <a:spcPts val="800"/>
              </a:spcAft>
            </a:pPr>
            <a:r>
              <a:rPr sz="1800" b="1" dirty="0">
                <a:solidFill>
                  <a:srgbClr val="C9A227"/>
                </a:solidFill>
                <a:latin typeface="Calibri"/>
              </a:rPr>
              <a:t>•  </a:t>
            </a:r>
            <a:r>
              <a:rPr sz="1800" dirty="0">
                <a:solidFill>
                  <a:srgbClr val="1A1A1A"/>
                </a:solidFill>
                <a:latin typeface="Calibri"/>
              </a:rPr>
              <a:t>Knowledge graphs are useful for search, QA, and reasoning.</a:t>
            </a:r>
          </a:p>
          <a:p>
            <a:pPr algn="l">
              <a:spcAft>
                <a:spcPts val="800"/>
              </a:spcAft>
            </a:pPr>
            <a:r>
              <a:rPr sz="1800" b="1" dirty="0">
                <a:solidFill>
                  <a:srgbClr val="C9A227"/>
                </a:solidFill>
                <a:latin typeface="Calibri"/>
              </a:rPr>
              <a:t>•  </a:t>
            </a:r>
            <a:r>
              <a:rPr sz="1800" dirty="0">
                <a:solidFill>
                  <a:srgbClr val="1A1A1A"/>
                </a:solidFill>
                <a:latin typeface="Calibri"/>
              </a:rPr>
              <a:t>But building them by hand is slow and expensive.</a:t>
            </a:r>
          </a:p>
        </p:txBody>
      </p:sp>
      <p:sp>
        <p:nvSpPr>
          <p:cNvPr id="7" name="Rounded Rectangle 6"/>
          <p:cNvSpPr/>
          <p:nvPr/>
        </p:nvSpPr>
        <p:spPr>
          <a:xfrm>
            <a:off x="548640" y="4023360"/>
            <a:ext cx="11064240" cy="2011680"/>
          </a:xfrm>
          <a:prstGeom prst="roundRect">
            <a:avLst>
              <a:gd name="adj" fmla="val 6000"/>
            </a:avLst>
          </a:prstGeom>
          <a:solidFill>
            <a:srgbClr val="F4F1EA"/>
          </a:solidFill>
          <a:ln w="6350">
            <a:solidFill>
              <a:srgbClr val="E3DE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4160520"/>
            <a:ext cx="10515600" cy="1828800"/>
          </a:xfrm>
          <a:prstGeom prst="rect">
            <a:avLst/>
          </a:prstGeom>
          <a:noFill/>
        </p:spPr>
        <p:txBody>
          <a:bodyPr wrap="square" lIns="0">
            <a:spAutoFit/>
          </a:bodyPr>
          <a:lstStyle/>
          <a:p>
            <a:r>
              <a:rPr sz="1400" b="1">
                <a:solidFill>
                  <a:srgbClr val="C9A227"/>
                </a:solidFill>
                <a:latin typeface="Calibri"/>
              </a:rPr>
              <a:t>Goal of this project</a:t>
            </a:r>
          </a:p>
          <a:p>
            <a:r>
              <a:rPr sz="1800">
                <a:solidFill>
                  <a:srgbClr val="1A1A1A"/>
                </a:solidFill>
                <a:latin typeface="Calibri"/>
              </a:rPr>
              <a:t>Take a paragraph of English text and return a clean, typed, evidence-backed knowledge graph the user can read and explore.</a:t>
            </a:r>
          </a:p>
        </p:txBody>
      </p:sp>
      <p:sp>
        <p:nvSpPr>
          <p:cNvPr id="10" name="TextBox 9"/>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3 / 19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BACKGROUND</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A Short History</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4389120"/>
          </a:xfrm>
          <a:prstGeom prst="rect">
            <a:avLst/>
          </a:prstGeom>
          <a:noFill/>
        </p:spPr>
        <p:txBody>
          <a:bodyPr wrap="square" lIns="0">
            <a:spAutoFit/>
          </a:bodyPr>
          <a:lstStyle/>
          <a:p>
            <a:pPr algn="l">
              <a:spcAft>
                <a:spcPts val="800"/>
              </a:spcAft>
            </a:pPr>
            <a:r>
              <a:rPr sz="1800" b="1">
                <a:solidFill>
                  <a:srgbClr val="C9A227"/>
                </a:solidFill>
                <a:latin typeface="Calibri"/>
              </a:rPr>
              <a:t>•  </a:t>
            </a:r>
            <a:r>
              <a:rPr sz="1800" b="1">
                <a:solidFill>
                  <a:srgbClr val="1F3A5F"/>
                </a:solidFill>
                <a:latin typeface="Calibri"/>
              </a:rPr>
              <a:t>Rule-based (1990s–2000s):</a:t>
            </a:r>
            <a:r>
              <a:rPr sz="1800">
                <a:solidFill>
                  <a:srgbClr val="1A1A1A"/>
                </a:solidFill>
                <a:latin typeface="Calibri"/>
              </a:rPr>
              <a:t>  regex, parsers, hand-crafted patterns. Precise, brittle.</a:t>
            </a:r>
          </a:p>
          <a:p>
            <a:pPr algn="l">
              <a:spcAft>
                <a:spcPts val="800"/>
              </a:spcAft>
            </a:pPr>
            <a:r>
              <a:rPr sz="1800" b="1">
                <a:solidFill>
                  <a:srgbClr val="C9A227"/>
                </a:solidFill>
                <a:latin typeface="Calibri"/>
              </a:rPr>
              <a:t>•  </a:t>
            </a:r>
            <a:r>
              <a:rPr sz="1800" b="1">
                <a:solidFill>
                  <a:srgbClr val="1F3A5F"/>
                </a:solidFill>
                <a:latin typeface="Calibri"/>
              </a:rPr>
              <a:t>Statistical / embeddings (2010s):</a:t>
            </a:r>
            <a:r>
              <a:rPr sz="1800">
                <a:solidFill>
                  <a:srgbClr val="1A1A1A"/>
                </a:solidFill>
                <a:latin typeface="Calibri"/>
              </a:rPr>
              <a:t>  TransE, RotatE. Learn from existing graphs, cannot read new text.</a:t>
            </a:r>
          </a:p>
          <a:p>
            <a:pPr algn="l">
              <a:spcAft>
                <a:spcPts val="800"/>
              </a:spcAft>
            </a:pPr>
            <a:r>
              <a:rPr sz="1800" b="1">
                <a:solidFill>
                  <a:srgbClr val="C9A227"/>
                </a:solidFill>
                <a:latin typeface="Calibri"/>
              </a:rPr>
              <a:t>•  </a:t>
            </a:r>
            <a:r>
              <a:rPr sz="1800" b="1">
                <a:solidFill>
                  <a:srgbClr val="1F3A5F"/>
                </a:solidFill>
                <a:latin typeface="Calibri"/>
              </a:rPr>
              <a:t>LLM-based (2020s):</a:t>
            </a:r>
            <a:r>
              <a:rPr sz="1800">
                <a:solidFill>
                  <a:srgbClr val="1A1A1A"/>
                </a:solidFill>
                <a:latin typeface="Calibri"/>
              </a:rPr>
              <a:t>  GPT, Claude, Gemini. Read free text, but hallucinate and invent relation names.</a:t>
            </a:r>
          </a:p>
        </p:txBody>
      </p:sp>
      <p:sp>
        <p:nvSpPr>
          <p:cNvPr id="7" name="Rounded Rectangle 6"/>
          <p:cNvSpPr/>
          <p:nvPr/>
        </p:nvSpPr>
        <p:spPr>
          <a:xfrm>
            <a:off x="548640" y="5120640"/>
            <a:ext cx="11064240" cy="914400"/>
          </a:xfrm>
          <a:prstGeom prst="roundRect">
            <a:avLst>
              <a:gd name="adj" fmla="val 6000"/>
            </a:avLst>
          </a:prstGeom>
          <a:solidFill>
            <a:srgbClr val="F4F1EA"/>
          </a:solidFill>
          <a:ln w="6350">
            <a:solidFill>
              <a:srgbClr val="E3DE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5257800"/>
            <a:ext cx="10515600" cy="731520"/>
          </a:xfrm>
          <a:prstGeom prst="rect">
            <a:avLst/>
          </a:prstGeom>
          <a:noFill/>
        </p:spPr>
        <p:txBody>
          <a:bodyPr wrap="none">
            <a:spAutoFit/>
          </a:bodyPr>
          <a:lstStyle/>
          <a:p>
            <a:pPr algn="l"/>
            <a:r>
              <a:rPr sz="1500" b="0" dirty="0">
                <a:solidFill>
                  <a:srgbClr val="1A1A1A"/>
                </a:solidFill>
                <a:latin typeface="Calibri"/>
              </a:rPr>
              <a:t>This project sits in the third generation — with explicit controls to keep the output usable.</a:t>
            </a:r>
          </a:p>
        </p:txBody>
      </p:sp>
      <p:sp>
        <p:nvSpPr>
          <p:cNvPr id="10" name="TextBox 9"/>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4 / 19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SCOPE</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Project Goals</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828800"/>
            <a:ext cx="11064240" cy="1605568"/>
          </a:xfrm>
          <a:prstGeom prst="rect">
            <a:avLst/>
          </a:prstGeom>
          <a:noFill/>
        </p:spPr>
        <p:txBody>
          <a:bodyPr wrap="square" lIns="0">
            <a:spAutoFit/>
          </a:bodyPr>
          <a:lstStyle/>
          <a:p>
            <a:pPr algn="l">
              <a:spcAft>
                <a:spcPts val="400"/>
              </a:spcAft>
            </a:pPr>
            <a:r>
              <a:rPr sz="1700" b="1" dirty="0">
                <a:solidFill>
                  <a:srgbClr val="C9A227"/>
                </a:solidFill>
                <a:latin typeface="Calibri"/>
              </a:rPr>
              <a:t>•  </a:t>
            </a:r>
            <a:r>
              <a:rPr sz="1700" b="1" dirty="0">
                <a:solidFill>
                  <a:srgbClr val="1F3A5F"/>
                </a:solidFill>
                <a:latin typeface="Calibri"/>
              </a:rPr>
              <a:t>Open entity types</a:t>
            </a:r>
            <a:r>
              <a:rPr sz="1700" dirty="0">
                <a:solidFill>
                  <a:srgbClr val="1A1A1A"/>
                </a:solidFill>
                <a:latin typeface="Calibri"/>
              </a:rPr>
              <a:t>  discover what the text is about</a:t>
            </a:r>
          </a:p>
          <a:p>
            <a:pPr algn="l">
              <a:spcAft>
                <a:spcPts val="400"/>
              </a:spcAft>
            </a:pPr>
            <a:r>
              <a:rPr sz="1700" b="1" dirty="0">
                <a:solidFill>
                  <a:srgbClr val="C9A227"/>
                </a:solidFill>
                <a:latin typeface="Calibri"/>
              </a:rPr>
              <a:t>•  </a:t>
            </a:r>
            <a:r>
              <a:rPr sz="1700" b="1" dirty="0">
                <a:solidFill>
                  <a:srgbClr val="1F3A5F"/>
                </a:solidFill>
                <a:latin typeface="Calibri"/>
              </a:rPr>
              <a:t>Closed relation vocabulary</a:t>
            </a:r>
            <a:r>
              <a:rPr sz="1700" dirty="0">
                <a:solidFill>
                  <a:srgbClr val="1A1A1A"/>
                </a:solidFill>
                <a:latin typeface="Calibri"/>
              </a:rPr>
              <a:t>  23 named relations</a:t>
            </a:r>
          </a:p>
          <a:p>
            <a:pPr algn="l">
              <a:spcAft>
                <a:spcPts val="400"/>
              </a:spcAft>
            </a:pPr>
            <a:r>
              <a:rPr sz="1700" b="1" dirty="0">
                <a:solidFill>
                  <a:srgbClr val="C9A227"/>
                </a:solidFill>
                <a:latin typeface="Calibri"/>
              </a:rPr>
              <a:t>•  </a:t>
            </a:r>
            <a:r>
              <a:rPr sz="1700" b="1" dirty="0">
                <a:solidFill>
                  <a:srgbClr val="1F3A5F"/>
                </a:solidFill>
                <a:latin typeface="Calibri"/>
              </a:rPr>
              <a:t>Evidence</a:t>
            </a:r>
            <a:r>
              <a:rPr sz="1700" dirty="0">
                <a:solidFill>
                  <a:srgbClr val="1A1A1A"/>
                </a:solidFill>
                <a:latin typeface="Calibri"/>
              </a:rPr>
              <a:t>  source sentence for every node and edge</a:t>
            </a:r>
            <a:endParaRPr lang="en-US" sz="1700" dirty="0">
              <a:solidFill>
                <a:srgbClr val="1A1A1A"/>
              </a:solidFill>
              <a:latin typeface="Calibri"/>
            </a:endParaRPr>
          </a:p>
          <a:p>
            <a:pPr algn="l">
              <a:spcAft>
                <a:spcPts val="400"/>
              </a:spcAft>
            </a:pPr>
            <a:r>
              <a:rPr sz="1700" b="1" dirty="0">
                <a:solidFill>
                  <a:srgbClr val="C9A227"/>
                </a:solidFill>
                <a:latin typeface="Calibri"/>
              </a:rPr>
              <a:t>•  </a:t>
            </a:r>
            <a:r>
              <a:rPr sz="1700" b="1" dirty="0">
                <a:solidFill>
                  <a:srgbClr val="1F3A5F"/>
                </a:solidFill>
                <a:latin typeface="Calibri"/>
              </a:rPr>
              <a:t>Interactive visualization</a:t>
            </a:r>
            <a:r>
              <a:rPr sz="1700" dirty="0">
                <a:solidFill>
                  <a:srgbClr val="1A1A1A"/>
                </a:solidFill>
                <a:latin typeface="Calibri"/>
              </a:rPr>
              <a:t>  filters, search, importance ranking</a:t>
            </a:r>
          </a:p>
          <a:p>
            <a:pPr algn="l">
              <a:spcAft>
                <a:spcPts val="400"/>
              </a:spcAft>
            </a:pPr>
            <a:r>
              <a:rPr sz="1700" b="1" dirty="0">
                <a:solidFill>
                  <a:srgbClr val="C9A227"/>
                </a:solidFill>
                <a:latin typeface="Calibri"/>
              </a:rPr>
              <a:t>•  </a:t>
            </a:r>
            <a:r>
              <a:rPr sz="1700" b="1" dirty="0">
                <a:solidFill>
                  <a:srgbClr val="1F3A5F"/>
                </a:solidFill>
                <a:latin typeface="Calibri"/>
              </a:rPr>
              <a:t>RDF / Turtle export</a:t>
            </a:r>
            <a:r>
              <a:rPr sz="1700" dirty="0">
                <a:solidFill>
                  <a:srgbClr val="1A1A1A"/>
                </a:solidFill>
                <a:latin typeface="Calibri"/>
              </a:rPr>
              <a:t>  with reified provenance</a:t>
            </a:r>
          </a:p>
        </p:txBody>
      </p:sp>
      <p:sp>
        <p:nvSpPr>
          <p:cNvPr id="8" name="TextBox 7"/>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5 / 19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PIPELINE</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System Architecture</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377440" y="1828800"/>
            <a:ext cx="7406640" cy="594360"/>
          </a:xfrm>
          <a:prstGeom prst="roundRect">
            <a:avLst>
              <a:gd name="adj" fmla="val 30000"/>
            </a:avLst>
          </a:prstGeom>
          <a:solidFill>
            <a:srgbClr val="F4F1EA"/>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tIns="50800" bIns="50800" rtlCol="0" anchor="ctr"/>
          <a:lstStyle/>
          <a:p>
            <a:pPr algn="ctr"/>
            <a:r>
              <a:rPr sz="1500" b="1">
                <a:solidFill>
                  <a:srgbClr val="1F3A5F"/>
                </a:solidFill>
                <a:latin typeface="Calibri"/>
              </a:rPr>
              <a:t>User pastes text</a:t>
            </a:r>
          </a:p>
        </p:txBody>
      </p:sp>
      <p:sp>
        <p:nvSpPr>
          <p:cNvPr id="7" name="Down Arrow 6"/>
          <p:cNvSpPr/>
          <p:nvPr/>
        </p:nvSpPr>
        <p:spPr>
          <a:xfrm>
            <a:off x="5897880" y="2427732"/>
            <a:ext cx="365760" cy="109728"/>
          </a:xfrm>
          <a:prstGeom prst="down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377440" y="2532888"/>
            <a:ext cx="7406640" cy="594360"/>
          </a:xfrm>
          <a:prstGeom prst="roundRect">
            <a:avLst>
              <a:gd name="adj" fmla="val 30000"/>
            </a:avLst>
          </a:prstGeom>
          <a:solidFill>
            <a:srgbClr val="F4F1EA"/>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tIns="50800" bIns="50800" rtlCol="0" anchor="ctr"/>
          <a:lstStyle/>
          <a:p>
            <a:pPr algn="ctr"/>
            <a:r>
              <a:rPr sz="1500" b="1">
                <a:solidFill>
                  <a:srgbClr val="1F3A5F"/>
                </a:solidFill>
                <a:latin typeface="Calibri"/>
              </a:rPr>
              <a:t>Next.js frontend  /  /extract route</a:t>
            </a:r>
          </a:p>
        </p:txBody>
      </p:sp>
      <p:sp>
        <p:nvSpPr>
          <p:cNvPr id="9" name="Down Arrow 8"/>
          <p:cNvSpPr/>
          <p:nvPr/>
        </p:nvSpPr>
        <p:spPr>
          <a:xfrm>
            <a:off x="5897880" y="3131820"/>
            <a:ext cx="365760" cy="109728"/>
          </a:xfrm>
          <a:prstGeom prst="down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377440" y="3236976"/>
            <a:ext cx="7406640" cy="594360"/>
          </a:xfrm>
          <a:prstGeom prst="roundRect">
            <a:avLst>
              <a:gd name="adj" fmla="val 30000"/>
            </a:avLst>
          </a:prstGeom>
          <a:solidFill>
            <a:srgbClr val="F4F1EA"/>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tIns="50800" bIns="50800" rtlCol="0" anchor="ctr"/>
          <a:lstStyle/>
          <a:p>
            <a:pPr algn="ctr"/>
            <a:r>
              <a:rPr sz="1500" b="1">
                <a:solidFill>
                  <a:srgbClr val="1F3A5F"/>
                </a:solidFill>
                <a:latin typeface="Calibri"/>
              </a:rPr>
              <a:t>Node.js backend</a:t>
            </a:r>
          </a:p>
        </p:txBody>
      </p:sp>
      <p:sp>
        <p:nvSpPr>
          <p:cNvPr id="11" name="Down Arrow 10"/>
          <p:cNvSpPr/>
          <p:nvPr/>
        </p:nvSpPr>
        <p:spPr>
          <a:xfrm>
            <a:off x="5897880" y="3835908"/>
            <a:ext cx="365760" cy="109728"/>
          </a:xfrm>
          <a:prstGeom prst="down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377440" y="3941064"/>
            <a:ext cx="7406640" cy="594360"/>
          </a:xfrm>
          <a:prstGeom prst="roundRect">
            <a:avLst>
              <a:gd name="adj" fmla="val 30000"/>
            </a:avLst>
          </a:prstGeom>
          <a:solidFill>
            <a:srgbClr val="FBF4DF"/>
          </a:solidFill>
          <a:ln w="15875">
            <a:solidFill>
              <a:srgbClr val="C9A227"/>
            </a:solidFill>
          </a:ln>
        </p:spPr>
        <p:style>
          <a:lnRef idx="1">
            <a:schemeClr val="accent1"/>
          </a:lnRef>
          <a:fillRef idx="3">
            <a:schemeClr val="accent1"/>
          </a:fillRef>
          <a:effectRef idx="2">
            <a:schemeClr val="accent1"/>
          </a:effectRef>
          <a:fontRef idx="minor">
            <a:schemeClr val="lt1"/>
          </a:fontRef>
        </p:style>
        <p:txBody>
          <a:bodyPr tIns="50800" bIns="50800" rtlCol="0" anchor="ctr"/>
          <a:lstStyle/>
          <a:p>
            <a:pPr algn="ctr"/>
            <a:r>
              <a:rPr sz="1500" b="1">
                <a:solidFill>
                  <a:srgbClr val="C9A227"/>
                </a:solidFill>
                <a:latin typeface="Calibri"/>
              </a:rPr>
              <a:t>LLM provider  (Anthropic / OpenAI / Gemini)</a:t>
            </a:r>
          </a:p>
        </p:txBody>
      </p:sp>
      <p:sp>
        <p:nvSpPr>
          <p:cNvPr id="13" name="Down Arrow 12"/>
          <p:cNvSpPr/>
          <p:nvPr/>
        </p:nvSpPr>
        <p:spPr>
          <a:xfrm>
            <a:off x="5897880" y="4539996"/>
            <a:ext cx="365760" cy="109728"/>
          </a:xfrm>
          <a:prstGeom prst="down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377440" y="4645152"/>
            <a:ext cx="7406640" cy="594360"/>
          </a:xfrm>
          <a:prstGeom prst="roundRect">
            <a:avLst>
              <a:gd name="adj" fmla="val 30000"/>
            </a:avLst>
          </a:prstGeom>
          <a:solidFill>
            <a:srgbClr val="F4F1EA"/>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tIns="50800" bIns="50800" rtlCol="0" anchor="ctr"/>
          <a:lstStyle/>
          <a:p>
            <a:pPr algn="ctr"/>
            <a:r>
              <a:rPr sz="1500" b="1">
                <a:solidFill>
                  <a:srgbClr val="1F3A5F"/>
                </a:solidFill>
                <a:latin typeface="Calibri"/>
              </a:rPr>
              <a:t>normalizeGraph()  ·  dedup · alias merge · validate</a:t>
            </a:r>
          </a:p>
        </p:txBody>
      </p:sp>
      <p:sp>
        <p:nvSpPr>
          <p:cNvPr id="15" name="Down Arrow 14"/>
          <p:cNvSpPr/>
          <p:nvPr/>
        </p:nvSpPr>
        <p:spPr>
          <a:xfrm>
            <a:off x="5897880" y="5244084"/>
            <a:ext cx="365760" cy="109728"/>
          </a:xfrm>
          <a:prstGeom prst="down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377440" y="5349240"/>
            <a:ext cx="7406640" cy="594360"/>
          </a:xfrm>
          <a:prstGeom prst="roundRect">
            <a:avLst>
              <a:gd name="adj" fmla="val 30000"/>
            </a:avLst>
          </a:prstGeom>
          <a:solidFill>
            <a:srgbClr val="F4F1EA"/>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tIns="50800" bIns="50800" rtlCol="0" anchor="ctr"/>
          <a:lstStyle/>
          <a:p>
            <a:pPr algn="ctr"/>
            <a:r>
              <a:rPr sz="1500" b="1">
                <a:solidFill>
                  <a:srgbClr val="1F3A5F"/>
                </a:solidFill>
                <a:latin typeface="Calibri"/>
              </a:rPr>
              <a:t>Cytoscape.js graph  +  Turtle / JSON-LD export</a:t>
            </a:r>
          </a:p>
        </p:txBody>
      </p:sp>
      <p:sp>
        <p:nvSpPr>
          <p:cNvPr id="18" name="TextBox 17"/>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6 / 19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KNOWLEDGE MODEL</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Hybrid Schema</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1828800"/>
            <a:ext cx="5349240" cy="3657600"/>
          </a:xfrm>
          <a:prstGeom prst="roundRect">
            <a:avLst>
              <a:gd name="adj" fmla="val 6000"/>
            </a:avLst>
          </a:prstGeom>
          <a:solidFill>
            <a:srgbClr val="F4F1EA"/>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57400"/>
            <a:ext cx="4800600" cy="548640"/>
          </a:xfrm>
          <a:prstGeom prst="rect">
            <a:avLst/>
          </a:prstGeom>
          <a:noFill/>
        </p:spPr>
        <p:txBody>
          <a:bodyPr wrap="none">
            <a:spAutoFit/>
          </a:bodyPr>
          <a:lstStyle/>
          <a:p>
            <a:pPr algn="l"/>
            <a:r>
              <a:rPr sz="1800" b="1">
                <a:solidFill>
                  <a:srgbClr val="1F3A5F"/>
                </a:solidFill>
                <a:latin typeface="Calibri"/>
              </a:rPr>
              <a:t>Entity types: OPEN</a:t>
            </a:r>
          </a:p>
        </p:txBody>
      </p:sp>
      <p:sp>
        <p:nvSpPr>
          <p:cNvPr id="8" name="TextBox 7"/>
          <p:cNvSpPr txBox="1"/>
          <p:nvPr/>
        </p:nvSpPr>
        <p:spPr>
          <a:xfrm>
            <a:off x="777240" y="2743200"/>
            <a:ext cx="4800600" cy="2560320"/>
          </a:xfrm>
          <a:prstGeom prst="rect">
            <a:avLst/>
          </a:prstGeom>
          <a:noFill/>
        </p:spPr>
        <p:txBody>
          <a:bodyPr wrap="square">
            <a:spAutoFit/>
          </a:bodyPr>
          <a:lstStyle/>
          <a:p>
            <a:pPr algn="l"/>
            <a:r>
              <a:rPr sz="1600" b="0">
                <a:solidFill>
                  <a:srgbClr val="1A1A1A"/>
                </a:solidFill>
                <a:latin typeface="Calibri"/>
              </a:rPr>
              <a:t>The LLM picks the type (Person, Company, Mountain, Award, …).
The system adapts to any domain.</a:t>
            </a:r>
          </a:p>
        </p:txBody>
      </p:sp>
      <p:sp>
        <p:nvSpPr>
          <p:cNvPr id="9" name="Rounded Rectangle 8"/>
          <p:cNvSpPr/>
          <p:nvPr/>
        </p:nvSpPr>
        <p:spPr>
          <a:xfrm>
            <a:off x="6355080" y="1828800"/>
            <a:ext cx="5349240" cy="3657600"/>
          </a:xfrm>
          <a:prstGeom prst="roundRect">
            <a:avLst>
              <a:gd name="adj" fmla="val 6000"/>
            </a:avLst>
          </a:prstGeom>
          <a:solidFill>
            <a:srgbClr val="F4F1EA"/>
          </a:solidFill>
          <a:ln w="19050">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29400" y="2057400"/>
            <a:ext cx="4800600" cy="548640"/>
          </a:xfrm>
          <a:prstGeom prst="rect">
            <a:avLst/>
          </a:prstGeom>
          <a:noFill/>
        </p:spPr>
        <p:txBody>
          <a:bodyPr wrap="none">
            <a:spAutoFit/>
          </a:bodyPr>
          <a:lstStyle/>
          <a:p>
            <a:pPr algn="l"/>
            <a:r>
              <a:rPr sz="1800" b="1">
                <a:solidFill>
                  <a:srgbClr val="C9A227"/>
                </a:solidFill>
                <a:latin typeface="Calibri"/>
              </a:rPr>
              <a:t>Relations: CLOSED</a:t>
            </a:r>
          </a:p>
        </p:txBody>
      </p:sp>
      <p:sp>
        <p:nvSpPr>
          <p:cNvPr id="11" name="TextBox 10"/>
          <p:cNvSpPr txBox="1"/>
          <p:nvPr/>
        </p:nvSpPr>
        <p:spPr>
          <a:xfrm>
            <a:off x="6629400" y="2743200"/>
            <a:ext cx="4800600" cy="2560320"/>
          </a:xfrm>
          <a:prstGeom prst="rect">
            <a:avLst/>
          </a:prstGeom>
          <a:noFill/>
        </p:spPr>
        <p:txBody>
          <a:bodyPr wrap="square">
            <a:spAutoFit/>
          </a:bodyPr>
          <a:lstStyle/>
          <a:p>
            <a:pPr algn="l"/>
            <a:r>
              <a:rPr sz="1600" b="0" dirty="0">
                <a:solidFill>
                  <a:srgbClr val="1A1A1A"/>
                </a:solidFill>
                <a:latin typeface="Calibri"/>
              </a:rPr>
              <a:t>23 fixed relations. The LLM must pick one, or mark the edge as [FALLBACK] for an audit.</a:t>
            </a:r>
          </a:p>
        </p:txBody>
      </p:sp>
      <p:sp>
        <p:nvSpPr>
          <p:cNvPr id="12" name="TextBox 11"/>
          <p:cNvSpPr txBox="1"/>
          <p:nvPr/>
        </p:nvSpPr>
        <p:spPr>
          <a:xfrm>
            <a:off x="548640" y="5760720"/>
            <a:ext cx="11064240" cy="548640"/>
          </a:xfrm>
          <a:prstGeom prst="rect">
            <a:avLst/>
          </a:prstGeom>
          <a:noFill/>
        </p:spPr>
        <p:txBody>
          <a:bodyPr wrap="none">
            <a:spAutoFit/>
          </a:bodyPr>
          <a:lstStyle/>
          <a:p>
            <a:pPr algn="l"/>
            <a:r>
              <a:rPr sz="1500" b="1">
                <a:solidFill>
                  <a:srgbClr val="6B6B6B"/>
                </a:solidFill>
                <a:latin typeface="Calibri"/>
              </a:rPr>
              <a:t>Readable (consistent edges) AND flexible (any text works).</a:t>
            </a:r>
          </a:p>
        </p:txBody>
      </p:sp>
      <p:sp>
        <p:nvSpPr>
          <p:cNvPr id="14" name="TextBox 13"/>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7 / 19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THE PROMPT</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Five Parts of the Contract</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4389120"/>
          </a:xfrm>
          <a:prstGeom prst="rect">
            <a:avLst/>
          </a:prstGeom>
          <a:noFill/>
        </p:spPr>
        <p:txBody>
          <a:bodyPr wrap="square" lIns="0">
            <a:spAutoFit/>
          </a:bodyPr>
          <a:lstStyle/>
          <a:p>
            <a:pPr algn="l">
              <a:spcAft>
                <a:spcPts val="600"/>
              </a:spcAft>
            </a:pPr>
            <a:r>
              <a:rPr sz="1800" b="1">
                <a:solidFill>
                  <a:srgbClr val="C9A227"/>
                </a:solidFill>
                <a:latin typeface="Calibri"/>
              </a:rPr>
              <a:t>•  </a:t>
            </a:r>
            <a:r>
              <a:rPr sz="1800" b="1">
                <a:solidFill>
                  <a:srgbClr val="1F3A5F"/>
                </a:solidFill>
                <a:latin typeface="Calibri"/>
              </a:rPr>
              <a:t>Decision rules</a:t>
            </a:r>
            <a:r>
              <a:rPr sz="1800">
                <a:solidFill>
                  <a:srgbClr val="1A1A1A"/>
                </a:solidFill>
                <a:latin typeface="Calibri"/>
              </a:rPr>
              <a:t>  when to pick which relation</a:t>
            </a:r>
          </a:p>
          <a:p>
            <a:pPr algn="l">
              <a:spcAft>
                <a:spcPts val="600"/>
              </a:spcAft>
            </a:pPr>
            <a:r>
              <a:rPr sz="1800" b="1">
                <a:solidFill>
                  <a:srgbClr val="C9A227"/>
                </a:solidFill>
                <a:latin typeface="Calibri"/>
              </a:rPr>
              <a:t>•  </a:t>
            </a:r>
            <a:r>
              <a:rPr sz="1800" b="1">
                <a:solidFill>
                  <a:srgbClr val="1F3A5F"/>
                </a:solidFill>
                <a:latin typeface="Calibri"/>
              </a:rPr>
              <a:t>Event reification</a:t>
            </a:r>
            <a:r>
              <a:rPr sz="1800">
                <a:solidFill>
                  <a:srgbClr val="1A1A1A"/>
                </a:solidFill>
                <a:latin typeface="Calibri"/>
              </a:rPr>
              <a:t>  “X received Y in 2009” → an Award event node</a:t>
            </a:r>
          </a:p>
          <a:p>
            <a:pPr algn="l">
              <a:spcAft>
                <a:spcPts val="600"/>
              </a:spcAft>
            </a:pPr>
            <a:r>
              <a:rPr sz="1800" b="1">
                <a:solidFill>
                  <a:srgbClr val="C9A227"/>
                </a:solidFill>
                <a:latin typeface="Calibri"/>
              </a:rPr>
              <a:t>•  </a:t>
            </a:r>
            <a:r>
              <a:rPr sz="1800" b="1">
                <a:solidFill>
                  <a:srgbClr val="1F3A5F"/>
                </a:solidFill>
                <a:latin typeface="Calibri"/>
              </a:rPr>
              <a:t>Aliases</a:t>
            </a:r>
            <a:r>
              <a:rPr sz="1800">
                <a:solidFill>
                  <a:srgbClr val="1A1A1A"/>
                </a:solidFill>
                <a:latin typeface="Calibri"/>
              </a:rPr>
              <a:t>  merge “Microsoft”, “MSFT”, “the company”</a:t>
            </a:r>
          </a:p>
          <a:p>
            <a:pPr algn="l">
              <a:spcAft>
                <a:spcPts val="600"/>
              </a:spcAft>
            </a:pPr>
            <a:r>
              <a:rPr sz="1800" b="1">
                <a:solidFill>
                  <a:srgbClr val="C9A227"/>
                </a:solidFill>
                <a:latin typeface="Calibri"/>
              </a:rPr>
              <a:t>•  </a:t>
            </a:r>
            <a:r>
              <a:rPr sz="1800" b="1">
                <a:solidFill>
                  <a:srgbClr val="1F3A5F"/>
                </a:solidFill>
                <a:latin typeface="Calibri"/>
              </a:rPr>
              <a:t>Deduplication</a:t>
            </a:r>
            <a:r>
              <a:rPr sz="1800">
                <a:solidFill>
                  <a:srgbClr val="1A1A1A"/>
                </a:solidFill>
                <a:latin typeface="Calibri"/>
              </a:rPr>
              <a:t>  one node per real-world entity</a:t>
            </a:r>
          </a:p>
          <a:p>
            <a:pPr algn="l">
              <a:spcAft>
                <a:spcPts val="600"/>
              </a:spcAft>
            </a:pPr>
            <a:r>
              <a:rPr sz="1800" b="1">
                <a:solidFill>
                  <a:srgbClr val="C9A227"/>
                </a:solidFill>
                <a:latin typeface="Calibri"/>
              </a:rPr>
              <a:t>•  </a:t>
            </a:r>
            <a:r>
              <a:rPr sz="1800" b="1">
                <a:solidFill>
                  <a:srgbClr val="1F3A5F"/>
                </a:solidFill>
                <a:latin typeface="Calibri"/>
              </a:rPr>
              <a:t>Confidence + [FALLBACK]</a:t>
            </a:r>
            <a:r>
              <a:rPr sz="1800">
                <a:solidFill>
                  <a:srgbClr val="1A1A1A"/>
                </a:solidFill>
                <a:latin typeface="Calibri"/>
              </a:rPr>
              <a:t>  model self-reports certainty per edge</a:t>
            </a:r>
          </a:p>
        </p:txBody>
      </p:sp>
      <p:sp>
        <p:nvSpPr>
          <p:cNvPr id="7" name="TextBox 6"/>
          <p:cNvSpPr txBox="1"/>
          <p:nvPr/>
        </p:nvSpPr>
        <p:spPr>
          <a:xfrm>
            <a:off x="548640" y="5669280"/>
            <a:ext cx="10972800" cy="548640"/>
          </a:xfrm>
          <a:prstGeom prst="rect">
            <a:avLst/>
          </a:prstGeom>
          <a:noFill/>
        </p:spPr>
        <p:txBody>
          <a:bodyPr wrap="none">
            <a:spAutoFit/>
          </a:bodyPr>
          <a:lstStyle/>
          <a:p>
            <a:pPr algn="l"/>
            <a:r>
              <a:rPr sz="1300" b="0">
                <a:solidFill>
                  <a:srgbClr val="6B6B6B"/>
                </a:solidFill>
                <a:latin typeface="Calibri"/>
              </a:rPr>
              <a:t>The prompt is the contract with the LLM. Five named parts, ~1k tokens.</a:t>
            </a:r>
          </a:p>
        </p:txBody>
      </p:sp>
      <p:sp>
        <p:nvSpPr>
          <p:cNvPr id="9" name="TextBox 8"/>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8 / 19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IDENTITY</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Aliases and Deduplication</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4389120"/>
          </a:xfrm>
          <a:prstGeom prst="rect">
            <a:avLst/>
          </a:prstGeom>
          <a:noFill/>
        </p:spPr>
        <p:txBody>
          <a:bodyPr wrap="square" lIns="0">
            <a:spAutoFit/>
          </a:bodyPr>
          <a:lstStyle/>
          <a:p>
            <a:pPr algn="l">
              <a:spcAft>
                <a:spcPts val="800"/>
              </a:spcAft>
            </a:pPr>
            <a:r>
              <a:rPr sz="1700" b="1">
                <a:solidFill>
                  <a:srgbClr val="C9A227"/>
                </a:solidFill>
                <a:latin typeface="Calibri"/>
              </a:rPr>
              <a:t>•  </a:t>
            </a:r>
            <a:r>
              <a:rPr sz="1700" b="1">
                <a:solidFill>
                  <a:srgbClr val="1F3A5F"/>
                </a:solidFill>
                <a:latin typeface="Calibri"/>
              </a:rPr>
              <a:t>aliases field on every node</a:t>
            </a:r>
            <a:r>
              <a:rPr sz="1700">
                <a:solidFill>
                  <a:srgbClr val="1A1A1A"/>
                </a:solidFill>
                <a:latin typeface="Calibri"/>
              </a:rPr>
              <a:t>  {label: "Mark Twain", aliases: ["Samuel Clemens", "Clemens"]}</a:t>
            </a:r>
          </a:p>
          <a:p>
            <a:pPr algn="l">
              <a:spcAft>
                <a:spcPts val="800"/>
              </a:spcAft>
            </a:pPr>
            <a:r>
              <a:rPr sz="1700" b="1">
                <a:solidFill>
                  <a:srgbClr val="C9A227"/>
                </a:solidFill>
                <a:latin typeface="Calibri"/>
              </a:rPr>
              <a:t>•  </a:t>
            </a:r>
            <a:r>
              <a:rPr sz="1700" b="1">
                <a:solidFill>
                  <a:srgbClr val="1F3A5F"/>
                </a:solidFill>
                <a:latin typeface="Calibri"/>
              </a:rPr>
              <a:t>normalizeGraph()</a:t>
            </a:r>
            <a:r>
              <a:rPr sz="1700">
                <a:solidFill>
                  <a:srgbClr val="1A1A1A"/>
                </a:solidFill>
                <a:latin typeface="Calibri"/>
              </a:rPr>
              <a:t>  merges nodes that share an alias</a:t>
            </a:r>
          </a:p>
          <a:p>
            <a:pPr algn="l">
              <a:spcAft>
                <a:spcPts val="800"/>
              </a:spcAft>
            </a:pPr>
            <a:r>
              <a:rPr sz="1700" b="1">
                <a:solidFill>
                  <a:srgbClr val="C9A227"/>
                </a:solidFill>
                <a:latin typeface="Calibri"/>
              </a:rPr>
              <a:t>•  </a:t>
            </a:r>
            <a:r>
              <a:rPr sz="1700" b="1">
                <a:solidFill>
                  <a:srgbClr val="1F3A5F"/>
                </a:solidFill>
                <a:latin typeface="Calibri"/>
              </a:rPr>
              <a:t>Pronouns</a:t>
            </a:r>
            <a:r>
              <a:rPr sz="1700">
                <a:solidFill>
                  <a:srgbClr val="1A1A1A"/>
                </a:solidFill>
                <a:latin typeface="Calibri"/>
              </a:rPr>
              <a:t>  “he”, “the company” resolved to the canonical entity</a:t>
            </a:r>
          </a:p>
          <a:p>
            <a:pPr algn="l">
              <a:spcAft>
                <a:spcPts val="800"/>
              </a:spcAft>
            </a:pPr>
            <a:r>
              <a:rPr sz="1700" b="1">
                <a:solidFill>
                  <a:srgbClr val="C9A227"/>
                </a:solidFill>
                <a:latin typeface="Calibri"/>
              </a:rPr>
              <a:t>•  </a:t>
            </a:r>
            <a:r>
              <a:rPr sz="1700" b="1">
                <a:solidFill>
                  <a:srgbClr val="1F3A5F"/>
                </a:solidFill>
                <a:latin typeface="Calibri"/>
              </a:rPr>
              <a:t>UI</a:t>
            </a:r>
            <a:r>
              <a:rPr sz="1700">
                <a:solidFill>
                  <a:srgbClr val="1A1A1A"/>
                </a:solidFill>
                <a:latin typeface="Calibri"/>
              </a:rPr>
              <a:t>  aliases shown as small grey pills in the side panel</a:t>
            </a:r>
          </a:p>
        </p:txBody>
      </p:sp>
      <p:sp>
        <p:nvSpPr>
          <p:cNvPr id="10" name="TextBox 9"/>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9 / 19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EXPORT</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Provenance and Output Formats</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4389120"/>
          </a:xfrm>
          <a:prstGeom prst="rect">
            <a:avLst/>
          </a:prstGeom>
          <a:noFill/>
        </p:spPr>
        <p:txBody>
          <a:bodyPr wrap="square" lIns="0">
            <a:spAutoFit/>
          </a:bodyPr>
          <a:lstStyle/>
          <a:p>
            <a:pPr algn="l">
              <a:spcAft>
                <a:spcPts val="1000"/>
              </a:spcAft>
            </a:pPr>
            <a:r>
              <a:rPr sz="1800" b="1">
                <a:solidFill>
                  <a:srgbClr val="C9A227"/>
                </a:solidFill>
                <a:latin typeface="Calibri"/>
              </a:rPr>
              <a:t>•  </a:t>
            </a:r>
            <a:r>
              <a:rPr sz="1800" b="1">
                <a:solidFill>
                  <a:srgbClr val="1F3A5F"/>
                </a:solidFill>
                <a:latin typeface="Calibri"/>
              </a:rPr>
              <a:t>JSON</a:t>
            </a:r>
            <a:r>
              <a:rPr sz="1800">
                <a:solidFill>
                  <a:srgbClr val="1A1A1A"/>
                </a:solidFill>
                <a:latin typeface="Calibri"/>
              </a:rPr>
              <a:t>  nodes, edges, evidence, confidence, aliases</a:t>
            </a:r>
          </a:p>
          <a:p>
            <a:pPr algn="l">
              <a:spcAft>
                <a:spcPts val="1000"/>
              </a:spcAft>
            </a:pPr>
            <a:r>
              <a:rPr sz="1800" b="1">
                <a:solidFill>
                  <a:srgbClr val="C9A227"/>
                </a:solidFill>
                <a:latin typeface="Calibri"/>
              </a:rPr>
              <a:t>•  </a:t>
            </a:r>
            <a:r>
              <a:rPr sz="1800" b="1">
                <a:solidFill>
                  <a:srgbClr val="1F3A5F"/>
                </a:solidFill>
                <a:latin typeface="Calibri"/>
              </a:rPr>
              <a:t>Turtle / RDF</a:t>
            </a:r>
            <a:r>
              <a:rPr sz="1800">
                <a:solidFill>
                  <a:srgbClr val="1A1A1A"/>
                </a:solidFill>
                <a:latin typeface="Calibri"/>
              </a:rPr>
              <a:t>  edges as rdf:Statement reifications, kg:evidence, kg:confidence (PROV-O)</a:t>
            </a:r>
          </a:p>
          <a:p>
            <a:pPr algn="l">
              <a:spcAft>
                <a:spcPts val="1000"/>
              </a:spcAft>
            </a:pPr>
            <a:r>
              <a:rPr sz="1800" b="1">
                <a:solidFill>
                  <a:srgbClr val="C9A227"/>
                </a:solidFill>
                <a:latin typeface="Calibri"/>
              </a:rPr>
              <a:t>•  </a:t>
            </a:r>
            <a:r>
              <a:rPr sz="1800" b="1">
                <a:solidFill>
                  <a:srgbClr val="1F3A5F"/>
                </a:solidFill>
                <a:latin typeface="Calibri"/>
              </a:rPr>
              <a:t>PNG</a:t>
            </a:r>
            <a:r>
              <a:rPr sz="1800">
                <a:solidFill>
                  <a:srgbClr val="1A1A1A"/>
                </a:solidFill>
                <a:latin typeface="Calibri"/>
              </a:rPr>
              <a:t>  one-click export of the current graph view</a:t>
            </a:r>
          </a:p>
        </p:txBody>
      </p:sp>
      <p:sp>
        <p:nvSpPr>
          <p:cNvPr id="7" name="TextBox 6"/>
          <p:cNvSpPr txBox="1"/>
          <p:nvPr/>
        </p:nvSpPr>
        <p:spPr>
          <a:xfrm>
            <a:off x="548640" y="5120640"/>
            <a:ext cx="11064240" cy="914400"/>
          </a:xfrm>
          <a:prstGeom prst="rect">
            <a:avLst/>
          </a:prstGeom>
          <a:noFill/>
        </p:spPr>
        <p:txBody>
          <a:bodyPr wrap="square">
            <a:spAutoFit/>
          </a:bodyPr>
          <a:lstStyle/>
          <a:p>
            <a:pPr algn="l"/>
            <a:r>
              <a:rPr sz="1500" b="0">
                <a:solidFill>
                  <a:srgbClr val="6B6B6B"/>
                </a:solidFill>
                <a:latin typeface="Calibri"/>
              </a:rPr>
              <a:t>Downstream tools can verify WHY each fact is in the graph, not just WHAT it claims.</a:t>
            </a:r>
          </a:p>
        </p:txBody>
      </p:sp>
      <p:sp>
        <p:nvSpPr>
          <p:cNvPr id="9" name="TextBox 8"/>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10 / 19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UI</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Interactive Visualization</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783080"/>
            <a:ext cx="11064240" cy="2123658"/>
          </a:xfrm>
          <a:prstGeom prst="rect">
            <a:avLst/>
          </a:prstGeom>
          <a:noFill/>
        </p:spPr>
        <p:txBody>
          <a:bodyPr wrap="square" lIns="0">
            <a:spAutoFit/>
          </a:bodyPr>
          <a:lstStyle/>
          <a:p>
            <a:pPr algn="l">
              <a:spcAft>
                <a:spcPts val="400"/>
              </a:spcAft>
            </a:pPr>
            <a:r>
              <a:rPr sz="1600" b="1" dirty="0">
                <a:solidFill>
                  <a:srgbClr val="C9A227"/>
                </a:solidFill>
                <a:latin typeface="Calibri"/>
              </a:rPr>
              <a:t>•  </a:t>
            </a:r>
            <a:r>
              <a:rPr sz="1600" b="1" dirty="0">
                <a:solidFill>
                  <a:srgbClr val="1F3A5F"/>
                </a:solidFill>
                <a:latin typeface="Calibri"/>
              </a:rPr>
              <a:t>5 layouts</a:t>
            </a:r>
            <a:r>
              <a:rPr sz="1600" dirty="0">
                <a:solidFill>
                  <a:srgbClr val="1A1A1A"/>
                </a:solidFill>
                <a:latin typeface="Calibri"/>
              </a:rPr>
              <a:t>  Force · Concentric · Hierarchy · Circle · Grid</a:t>
            </a:r>
          </a:p>
          <a:p>
            <a:pPr algn="l">
              <a:spcAft>
                <a:spcPts val="400"/>
              </a:spcAft>
            </a:pPr>
            <a:r>
              <a:rPr sz="1600" b="1" dirty="0">
                <a:solidFill>
                  <a:srgbClr val="C9A227"/>
                </a:solidFill>
                <a:latin typeface="Calibri"/>
              </a:rPr>
              <a:t>•  </a:t>
            </a:r>
            <a:r>
              <a:rPr sz="1600" b="1" dirty="0">
                <a:solidFill>
                  <a:srgbClr val="1F3A5F"/>
                </a:solidFill>
                <a:latin typeface="Calibri"/>
              </a:rPr>
              <a:t>Live search</a:t>
            </a:r>
            <a:r>
              <a:rPr sz="1600" dirty="0">
                <a:solidFill>
                  <a:srgbClr val="1A1A1A"/>
                </a:solidFill>
                <a:latin typeface="Calibri"/>
              </a:rPr>
              <a:t>  highlights matching nodes</a:t>
            </a:r>
          </a:p>
          <a:p>
            <a:pPr algn="l">
              <a:spcAft>
                <a:spcPts val="400"/>
              </a:spcAft>
            </a:pPr>
            <a:r>
              <a:rPr sz="1600" b="1" dirty="0">
                <a:solidFill>
                  <a:srgbClr val="C9A227"/>
                </a:solidFill>
                <a:latin typeface="Calibri"/>
              </a:rPr>
              <a:t>•  </a:t>
            </a:r>
            <a:r>
              <a:rPr sz="1600" b="1" dirty="0">
                <a:solidFill>
                  <a:srgbClr val="1F3A5F"/>
                </a:solidFill>
                <a:latin typeface="Calibri"/>
              </a:rPr>
              <a:t>Relation chips</a:t>
            </a:r>
            <a:r>
              <a:rPr sz="1600" dirty="0">
                <a:solidFill>
                  <a:srgbClr val="1A1A1A"/>
                </a:solidFill>
                <a:latin typeface="Calibri"/>
              </a:rPr>
              <a:t>  hide / show each of the 23 relations</a:t>
            </a:r>
          </a:p>
          <a:p>
            <a:pPr algn="l">
              <a:spcAft>
                <a:spcPts val="400"/>
              </a:spcAft>
            </a:pPr>
            <a:r>
              <a:rPr sz="1600" b="1" dirty="0">
                <a:solidFill>
                  <a:srgbClr val="C9A227"/>
                </a:solidFill>
                <a:latin typeface="Calibri"/>
              </a:rPr>
              <a:t>•  </a:t>
            </a:r>
            <a:r>
              <a:rPr sz="1600" b="1" dirty="0">
                <a:solidFill>
                  <a:srgbClr val="1F3A5F"/>
                </a:solidFill>
                <a:latin typeface="Calibri"/>
              </a:rPr>
              <a:t>Hide individual entities</a:t>
            </a:r>
            <a:r>
              <a:rPr sz="1600" dirty="0">
                <a:solidFill>
                  <a:srgbClr val="1A1A1A"/>
                </a:solidFill>
                <a:latin typeface="Calibri"/>
              </a:rPr>
              <a:t>  with one-click restore</a:t>
            </a:r>
          </a:p>
          <a:p>
            <a:pPr algn="l">
              <a:spcAft>
                <a:spcPts val="400"/>
              </a:spcAft>
            </a:pPr>
            <a:r>
              <a:rPr sz="1600" b="1" dirty="0">
                <a:solidFill>
                  <a:srgbClr val="C9A227"/>
                </a:solidFill>
                <a:latin typeface="Calibri"/>
              </a:rPr>
              <a:t>•  </a:t>
            </a:r>
            <a:r>
              <a:rPr sz="1600" b="1" dirty="0">
                <a:solidFill>
                  <a:srgbClr val="1F3A5F"/>
                </a:solidFill>
                <a:latin typeface="Calibri"/>
              </a:rPr>
              <a:t>Edge labels</a:t>
            </a:r>
            <a:r>
              <a:rPr sz="1600" dirty="0">
                <a:solidFill>
                  <a:srgbClr val="1A1A1A"/>
                </a:solidFill>
                <a:latin typeface="Calibri"/>
              </a:rPr>
              <a:t>  on hover or always</a:t>
            </a:r>
          </a:p>
          <a:p>
            <a:pPr algn="l">
              <a:spcAft>
                <a:spcPts val="400"/>
              </a:spcAft>
            </a:pPr>
            <a:r>
              <a:rPr sz="1600" b="1" dirty="0">
                <a:solidFill>
                  <a:srgbClr val="C9A227"/>
                </a:solidFill>
                <a:latin typeface="Calibri"/>
              </a:rPr>
              <a:t>•  </a:t>
            </a:r>
            <a:r>
              <a:rPr sz="1600" b="1" dirty="0">
                <a:solidFill>
                  <a:srgbClr val="1F3A5F"/>
                </a:solidFill>
                <a:latin typeface="Calibri"/>
              </a:rPr>
              <a:t>Date nodes</a:t>
            </a:r>
            <a:r>
              <a:rPr sz="1600" dirty="0">
                <a:solidFill>
                  <a:srgbClr val="1A1A1A"/>
                </a:solidFill>
                <a:latin typeface="Calibri"/>
              </a:rPr>
              <a:t>  on/off — clean ‘paper-ready’ view</a:t>
            </a:r>
          </a:p>
          <a:p>
            <a:pPr algn="l">
              <a:spcAft>
                <a:spcPts val="400"/>
              </a:spcAft>
            </a:pPr>
            <a:r>
              <a:rPr sz="1600" b="1" dirty="0">
                <a:solidFill>
                  <a:srgbClr val="C9A227"/>
                </a:solidFill>
                <a:latin typeface="Calibri"/>
              </a:rPr>
              <a:t>•  </a:t>
            </a:r>
            <a:r>
              <a:rPr sz="1600" b="1" dirty="0">
                <a:solidFill>
                  <a:srgbClr val="1F3A5F"/>
                </a:solidFill>
                <a:latin typeface="Calibri"/>
              </a:rPr>
              <a:t>Zoom · Fit · PNG</a:t>
            </a:r>
            <a:r>
              <a:rPr sz="1600" dirty="0">
                <a:solidFill>
                  <a:srgbClr val="1A1A1A"/>
                </a:solidFill>
                <a:latin typeface="Calibri"/>
              </a:rPr>
              <a:t>  standard controls in the toolbar</a:t>
            </a:r>
          </a:p>
        </p:txBody>
      </p:sp>
      <p:sp>
        <p:nvSpPr>
          <p:cNvPr id="8" name="TextBox 7"/>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11 / 19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UI</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Importance-Ranked Complexity Slider</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1179810"/>
          </a:xfrm>
          <a:prstGeom prst="rect">
            <a:avLst/>
          </a:prstGeom>
          <a:noFill/>
        </p:spPr>
        <p:txBody>
          <a:bodyPr wrap="square" lIns="0">
            <a:spAutoFit/>
          </a:bodyPr>
          <a:lstStyle/>
          <a:p>
            <a:pPr algn="l">
              <a:spcAft>
                <a:spcPts val="1000"/>
              </a:spcAft>
            </a:pPr>
            <a:r>
              <a:rPr sz="1800" b="1" dirty="0">
                <a:solidFill>
                  <a:srgbClr val="C9A227"/>
                </a:solidFill>
                <a:latin typeface="Calibri"/>
              </a:rPr>
              <a:t>•  </a:t>
            </a:r>
            <a:r>
              <a:rPr sz="1800" b="1" dirty="0">
                <a:solidFill>
                  <a:srgbClr val="1F3A5F"/>
                </a:solidFill>
                <a:latin typeface="Calibri"/>
              </a:rPr>
              <a:t>Node score</a:t>
            </a:r>
            <a:r>
              <a:rPr sz="1800" dirty="0">
                <a:solidFill>
                  <a:srgbClr val="1A1A1A"/>
                </a:solidFill>
                <a:latin typeface="Calibri"/>
              </a:rPr>
              <a:t>  </a:t>
            </a:r>
            <a:r>
              <a:rPr sz="1800" dirty="0" err="1">
                <a:solidFill>
                  <a:srgbClr val="1A1A1A"/>
                </a:solidFill>
                <a:latin typeface="Calibri"/>
              </a:rPr>
              <a:t>score</a:t>
            </a:r>
            <a:r>
              <a:rPr sz="1800" dirty="0">
                <a:solidFill>
                  <a:srgbClr val="1A1A1A"/>
                </a:solidFill>
                <a:latin typeface="Calibri"/>
              </a:rPr>
              <a:t> = degree + 2 × </a:t>
            </a:r>
            <a:r>
              <a:rPr sz="1800" dirty="0" err="1">
                <a:solidFill>
                  <a:srgbClr val="1A1A1A"/>
                </a:solidFill>
                <a:latin typeface="Calibri"/>
              </a:rPr>
              <a:t>mention_count</a:t>
            </a:r>
            <a:endParaRPr sz="1800" dirty="0">
              <a:solidFill>
                <a:srgbClr val="1A1A1A"/>
              </a:solidFill>
              <a:latin typeface="Calibri"/>
            </a:endParaRPr>
          </a:p>
          <a:p>
            <a:pPr algn="l">
              <a:spcAft>
                <a:spcPts val="1000"/>
              </a:spcAft>
            </a:pPr>
            <a:r>
              <a:rPr sz="1800" b="1" dirty="0">
                <a:solidFill>
                  <a:srgbClr val="C9A227"/>
                </a:solidFill>
                <a:latin typeface="Calibri"/>
              </a:rPr>
              <a:t>•  </a:t>
            </a:r>
            <a:r>
              <a:rPr sz="1800" b="1" dirty="0">
                <a:solidFill>
                  <a:srgbClr val="1F3A5F"/>
                </a:solidFill>
                <a:latin typeface="Calibri"/>
              </a:rPr>
              <a:t>Level 1</a:t>
            </a:r>
            <a:r>
              <a:rPr sz="1800" dirty="0">
                <a:solidFill>
                  <a:srgbClr val="1A1A1A"/>
                </a:solidFill>
                <a:latin typeface="Calibri"/>
              </a:rPr>
              <a:t>  only the most central + most-mentioned entities</a:t>
            </a:r>
          </a:p>
          <a:p>
            <a:pPr algn="l">
              <a:spcAft>
                <a:spcPts val="1000"/>
              </a:spcAft>
            </a:pPr>
            <a:r>
              <a:rPr sz="1800" b="1" dirty="0">
                <a:solidFill>
                  <a:srgbClr val="C9A227"/>
                </a:solidFill>
                <a:latin typeface="Calibri"/>
              </a:rPr>
              <a:t>•  </a:t>
            </a:r>
            <a:r>
              <a:rPr sz="1800" b="1" dirty="0">
                <a:solidFill>
                  <a:srgbClr val="1F3A5F"/>
                </a:solidFill>
                <a:latin typeface="Calibri"/>
              </a:rPr>
              <a:t>Max level</a:t>
            </a:r>
            <a:r>
              <a:rPr sz="1800" dirty="0">
                <a:solidFill>
                  <a:srgbClr val="1A1A1A"/>
                </a:solidFill>
                <a:latin typeface="Calibri"/>
              </a:rPr>
              <a:t>  the full graph</a:t>
            </a:r>
          </a:p>
        </p:txBody>
      </p:sp>
      <p:sp>
        <p:nvSpPr>
          <p:cNvPr id="7" name="Rounded Rectangle 6"/>
          <p:cNvSpPr/>
          <p:nvPr/>
        </p:nvSpPr>
        <p:spPr>
          <a:xfrm>
            <a:off x="548640" y="4937760"/>
            <a:ext cx="11064240" cy="1280160"/>
          </a:xfrm>
          <a:prstGeom prst="roundRect">
            <a:avLst>
              <a:gd name="adj" fmla="val 6000"/>
            </a:avLst>
          </a:prstGeom>
          <a:solidFill>
            <a:srgbClr val="F4F1EA"/>
          </a:solidFill>
          <a:ln w="6350">
            <a:solidFill>
              <a:srgbClr val="E3DE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5074920"/>
            <a:ext cx="10515600" cy="1097280"/>
          </a:xfrm>
          <a:prstGeom prst="rect">
            <a:avLst/>
          </a:prstGeom>
          <a:noFill/>
        </p:spPr>
        <p:txBody>
          <a:bodyPr wrap="square">
            <a:spAutoFit/>
          </a:bodyPr>
          <a:lstStyle/>
          <a:p>
            <a:r>
              <a:rPr sz="1400" b="1" dirty="0">
                <a:solidFill>
                  <a:srgbClr val="C9A227"/>
                </a:solidFill>
                <a:latin typeface="Calibri"/>
              </a:rPr>
              <a:t>Use case</a:t>
            </a:r>
          </a:p>
          <a:p>
            <a:r>
              <a:rPr sz="1500" dirty="0">
                <a:solidFill>
                  <a:srgbClr val="1A1A1A"/>
                </a:solidFill>
                <a:latin typeface="Calibri"/>
              </a:rPr>
              <a:t>Scan the big picture at level 1, then open up gradually — without losing the underlying graph.</a:t>
            </a:r>
          </a:p>
        </p:txBody>
      </p:sp>
      <p:sp>
        <p:nvSpPr>
          <p:cNvPr id="10" name="TextBox 9"/>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12 / 19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RESULTS</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Evaluation — Three Passages</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828800"/>
            <a:ext cx="4297680" cy="502920"/>
          </a:xfrm>
          <a:prstGeom prst="rect">
            <a:avLst/>
          </a:prstGeom>
          <a:solidFill>
            <a:srgbClr val="1F3A5F"/>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l"/>
            <a:r>
              <a:rPr sz="1400" b="1">
                <a:solidFill>
                  <a:srgbClr val="FFFFFF"/>
                </a:solidFill>
                <a:latin typeface="Calibri"/>
              </a:rPr>
              <a:t>Passage</a:t>
            </a:r>
          </a:p>
        </p:txBody>
      </p:sp>
      <p:sp>
        <p:nvSpPr>
          <p:cNvPr id="7" name="Rectangle 6"/>
          <p:cNvSpPr/>
          <p:nvPr/>
        </p:nvSpPr>
        <p:spPr>
          <a:xfrm>
            <a:off x="4846320" y="1828800"/>
            <a:ext cx="1554480" cy="502920"/>
          </a:xfrm>
          <a:prstGeom prst="rect">
            <a:avLst/>
          </a:prstGeom>
          <a:solidFill>
            <a:srgbClr val="1F3A5F"/>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ctr"/>
            <a:r>
              <a:rPr sz="1400" b="1">
                <a:solidFill>
                  <a:srgbClr val="FFFFFF"/>
                </a:solidFill>
                <a:latin typeface="Calibri"/>
              </a:rPr>
              <a:t>Entities</a:t>
            </a:r>
          </a:p>
        </p:txBody>
      </p:sp>
      <p:sp>
        <p:nvSpPr>
          <p:cNvPr id="8" name="Rectangle 7"/>
          <p:cNvSpPr/>
          <p:nvPr/>
        </p:nvSpPr>
        <p:spPr>
          <a:xfrm>
            <a:off x="6400800" y="1828800"/>
            <a:ext cx="1554480" cy="502920"/>
          </a:xfrm>
          <a:prstGeom prst="rect">
            <a:avLst/>
          </a:prstGeom>
          <a:solidFill>
            <a:srgbClr val="1F3A5F"/>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ctr"/>
            <a:r>
              <a:rPr sz="1400" b="1">
                <a:solidFill>
                  <a:srgbClr val="FFFFFF"/>
                </a:solidFill>
                <a:latin typeface="Calibri"/>
              </a:rPr>
              <a:t>Edges</a:t>
            </a:r>
          </a:p>
        </p:txBody>
      </p:sp>
      <p:sp>
        <p:nvSpPr>
          <p:cNvPr id="11" name="Rectangle 10"/>
          <p:cNvSpPr/>
          <p:nvPr/>
        </p:nvSpPr>
        <p:spPr>
          <a:xfrm>
            <a:off x="548640" y="2331720"/>
            <a:ext cx="4297680" cy="502920"/>
          </a:xfrm>
          <a:prstGeom prst="rect">
            <a:avLst/>
          </a:prstGeom>
          <a:solidFill>
            <a:srgbClr val="F4F1EA"/>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l"/>
            <a:r>
              <a:rPr sz="1400" b="1">
                <a:solidFill>
                  <a:srgbClr val="1A1A1A"/>
                </a:solidFill>
                <a:latin typeface="Calibri"/>
              </a:rPr>
              <a:t>Microsoft (short, 4 sentences)</a:t>
            </a:r>
          </a:p>
        </p:txBody>
      </p:sp>
      <p:sp>
        <p:nvSpPr>
          <p:cNvPr id="12" name="Rectangle 11"/>
          <p:cNvSpPr/>
          <p:nvPr/>
        </p:nvSpPr>
        <p:spPr>
          <a:xfrm>
            <a:off x="4846320" y="2331720"/>
            <a:ext cx="1554480" cy="502920"/>
          </a:xfrm>
          <a:prstGeom prst="rect">
            <a:avLst/>
          </a:prstGeom>
          <a:solidFill>
            <a:srgbClr val="F4F1EA"/>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ctr"/>
            <a:r>
              <a:rPr sz="1400" b="0">
                <a:solidFill>
                  <a:srgbClr val="1A1A1A"/>
                </a:solidFill>
                <a:latin typeface="Calibri"/>
              </a:rPr>
              <a:t>6</a:t>
            </a:r>
          </a:p>
        </p:txBody>
      </p:sp>
      <p:sp>
        <p:nvSpPr>
          <p:cNvPr id="13" name="Rectangle 12"/>
          <p:cNvSpPr/>
          <p:nvPr/>
        </p:nvSpPr>
        <p:spPr>
          <a:xfrm>
            <a:off x="6400800" y="2331720"/>
            <a:ext cx="1554480" cy="502920"/>
          </a:xfrm>
          <a:prstGeom prst="rect">
            <a:avLst/>
          </a:prstGeom>
          <a:solidFill>
            <a:srgbClr val="F4F1EA"/>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ctr"/>
            <a:r>
              <a:rPr sz="1400" b="0">
                <a:solidFill>
                  <a:srgbClr val="1A1A1A"/>
                </a:solidFill>
                <a:latin typeface="Calibri"/>
              </a:rPr>
              <a:t>5</a:t>
            </a:r>
          </a:p>
        </p:txBody>
      </p:sp>
      <p:sp>
        <p:nvSpPr>
          <p:cNvPr id="16" name="Rectangle 15"/>
          <p:cNvSpPr/>
          <p:nvPr/>
        </p:nvSpPr>
        <p:spPr>
          <a:xfrm>
            <a:off x="548640" y="2834640"/>
            <a:ext cx="4297680" cy="502920"/>
          </a:xfrm>
          <a:prstGeom prst="rect">
            <a:avLst/>
          </a:prstGeom>
          <a:solidFill>
            <a:srgbClr val="FFFFFF"/>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l"/>
            <a:r>
              <a:rPr lang="en-US" sz="1400" b="1" dirty="0">
                <a:solidFill>
                  <a:srgbClr val="1A1A1A"/>
                </a:solidFill>
                <a:latin typeface="Calibri"/>
              </a:rPr>
              <a:t>Climate Science </a:t>
            </a:r>
            <a:r>
              <a:rPr sz="1400" b="1" dirty="0">
                <a:solidFill>
                  <a:srgbClr val="1A1A1A"/>
                </a:solidFill>
                <a:latin typeface="Calibri"/>
              </a:rPr>
              <a:t>(</a:t>
            </a:r>
            <a:r>
              <a:rPr lang="en-US" sz="1400" b="1" dirty="0">
                <a:solidFill>
                  <a:srgbClr val="1A1A1A"/>
                </a:solidFill>
                <a:latin typeface="Calibri"/>
              </a:rPr>
              <a:t>Concept heavy</a:t>
            </a:r>
            <a:r>
              <a:rPr sz="1400" b="1" dirty="0">
                <a:solidFill>
                  <a:srgbClr val="1A1A1A"/>
                </a:solidFill>
                <a:latin typeface="Calibri"/>
              </a:rPr>
              <a:t>)</a:t>
            </a:r>
          </a:p>
        </p:txBody>
      </p:sp>
      <p:sp>
        <p:nvSpPr>
          <p:cNvPr id="17" name="Rectangle 16"/>
          <p:cNvSpPr/>
          <p:nvPr/>
        </p:nvSpPr>
        <p:spPr>
          <a:xfrm>
            <a:off x="4846320" y="2834640"/>
            <a:ext cx="1554480" cy="502920"/>
          </a:xfrm>
          <a:prstGeom prst="rect">
            <a:avLst/>
          </a:prstGeom>
          <a:solidFill>
            <a:srgbClr val="FFFFFF"/>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ctr"/>
            <a:r>
              <a:rPr lang="en-US" sz="1400" b="0" dirty="0">
                <a:solidFill>
                  <a:srgbClr val="1A1A1A"/>
                </a:solidFill>
                <a:latin typeface="Calibri"/>
              </a:rPr>
              <a:t>25</a:t>
            </a:r>
            <a:endParaRPr sz="1400" b="0" dirty="0">
              <a:solidFill>
                <a:srgbClr val="1A1A1A"/>
              </a:solidFill>
              <a:latin typeface="Calibri"/>
            </a:endParaRPr>
          </a:p>
        </p:txBody>
      </p:sp>
      <p:sp>
        <p:nvSpPr>
          <p:cNvPr id="18" name="Rectangle 17"/>
          <p:cNvSpPr/>
          <p:nvPr/>
        </p:nvSpPr>
        <p:spPr>
          <a:xfrm>
            <a:off x="6400800" y="2834640"/>
            <a:ext cx="1554480" cy="502920"/>
          </a:xfrm>
          <a:prstGeom prst="rect">
            <a:avLst/>
          </a:prstGeom>
          <a:solidFill>
            <a:srgbClr val="FFFFFF"/>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ctr"/>
            <a:r>
              <a:rPr lang="en-US" sz="1400" b="0" dirty="0">
                <a:solidFill>
                  <a:srgbClr val="1A1A1A"/>
                </a:solidFill>
                <a:latin typeface="Calibri"/>
              </a:rPr>
              <a:t>20</a:t>
            </a:r>
            <a:endParaRPr sz="1400" b="0" dirty="0">
              <a:solidFill>
                <a:srgbClr val="1A1A1A"/>
              </a:solidFill>
              <a:latin typeface="Calibri"/>
            </a:endParaRPr>
          </a:p>
        </p:txBody>
      </p:sp>
      <p:sp>
        <p:nvSpPr>
          <p:cNvPr id="21" name="Rectangle 20"/>
          <p:cNvSpPr/>
          <p:nvPr/>
        </p:nvSpPr>
        <p:spPr>
          <a:xfrm>
            <a:off x="548640" y="3337560"/>
            <a:ext cx="4297680" cy="502920"/>
          </a:xfrm>
          <a:prstGeom prst="rect">
            <a:avLst/>
          </a:prstGeom>
          <a:solidFill>
            <a:srgbClr val="F4F1EA"/>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l"/>
            <a:r>
              <a:rPr sz="1400" b="1">
                <a:solidFill>
                  <a:srgbClr val="1A1A1A"/>
                </a:solidFill>
                <a:latin typeface="Calibri"/>
              </a:rPr>
              <a:t>Mark Twain (biographical)</a:t>
            </a:r>
          </a:p>
        </p:txBody>
      </p:sp>
      <p:sp>
        <p:nvSpPr>
          <p:cNvPr id="22" name="Rectangle 21"/>
          <p:cNvSpPr/>
          <p:nvPr/>
        </p:nvSpPr>
        <p:spPr>
          <a:xfrm>
            <a:off x="4846320" y="3337560"/>
            <a:ext cx="1554480" cy="502920"/>
          </a:xfrm>
          <a:prstGeom prst="rect">
            <a:avLst/>
          </a:prstGeom>
          <a:solidFill>
            <a:srgbClr val="F4F1EA"/>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ctr"/>
            <a:r>
              <a:rPr sz="1400" b="0">
                <a:solidFill>
                  <a:srgbClr val="1A1A1A"/>
                </a:solidFill>
                <a:latin typeface="Calibri"/>
              </a:rPr>
              <a:t>14</a:t>
            </a:r>
          </a:p>
        </p:txBody>
      </p:sp>
      <p:sp>
        <p:nvSpPr>
          <p:cNvPr id="23" name="Rectangle 22"/>
          <p:cNvSpPr/>
          <p:nvPr/>
        </p:nvSpPr>
        <p:spPr>
          <a:xfrm>
            <a:off x="6400800" y="3337560"/>
            <a:ext cx="1554480" cy="502920"/>
          </a:xfrm>
          <a:prstGeom prst="rect">
            <a:avLst/>
          </a:prstGeom>
          <a:solidFill>
            <a:srgbClr val="F4F1EA"/>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ctr"/>
            <a:r>
              <a:rPr sz="1400" b="0">
                <a:solidFill>
                  <a:srgbClr val="1A1A1A"/>
                </a:solidFill>
                <a:latin typeface="Calibri"/>
              </a:rPr>
              <a:t>17</a:t>
            </a:r>
          </a:p>
        </p:txBody>
      </p:sp>
      <p:sp>
        <p:nvSpPr>
          <p:cNvPr id="26" name="TextBox 25"/>
          <p:cNvSpPr txBox="1"/>
          <p:nvPr/>
        </p:nvSpPr>
        <p:spPr>
          <a:xfrm>
            <a:off x="548640" y="4297680"/>
            <a:ext cx="11064240" cy="4389120"/>
          </a:xfrm>
          <a:prstGeom prst="rect">
            <a:avLst/>
          </a:prstGeom>
          <a:noFill/>
        </p:spPr>
        <p:txBody>
          <a:bodyPr wrap="square" lIns="0">
            <a:spAutoFit/>
          </a:bodyPr>
          <a:lstStyle/>
          <a:p>
            <a:pPr algn="l">
              <a:spcAft>
                <a:spcPts val="400"/>
              </a:spcAft>
            </a:pPr>
            <a:r>
              <a:rPr sz="1500" b="1" dirty="0">
                <a:solidFill>
                  <a:srgbClr val="C9A227"/>
                </a:solidFill>
                <a:latin typeface="Calibri"/>
              </a:rPr>
              <a:t>•  </a:t>
            </a:r>
            <a:r>
              <a:rPr sz="1500" dirty="0">
                <a:solidFill>
                  <a:srgbClr val="1A1A1A"/>
                </a:solidFill>
                <a:latin typeface="Calibri"/>
              </a:rPr>
              <a:t>Short, clear text  →  small, accurate graph</a:t>
            </a:r>
          </a:p>
          <a:p>
            <a:pPr algn="l">
              <a:spcAft>
                <a:spcPts val="400"/>
              </a:spcAft>
            </a:pPr>
            <a:r>
              <a:rPr sz="1500" b="1" dirty="0">
                <a:solidFill>
                  <a:srgbClr val="C9A227"/>
                </a:solidFill>
                <a:latin typeface="Calibri"/>
              </a:rPr>
              <a:t>•  </a:t>
            </a:r>
            <a:r>
              <a:rPr sz="1500" dirty="0">
                <a:solidFill>
                  <a:srgbClr val="1A1A1A"/>
                </a:solidFill>
                <a:latin typeface="Calibri"/>
              </a:rPr>
              <a:t>Long encyclopedic text  →  complexity slider becomes essential</a:t>
            </a:r>
          </a:p>
          <a:p>
            <a:pPr algn="l">
              <a:spcAft>
                <a:spcPts val="400"/>
              </a:spcAft>
            </a:pPr>
            <a:r>
              <a:rPr sz="1500" b="1" dirty="0">
                <a:solidFill>
                  <a:srgbClr val="C9A227"/>
                </a:solidFill>
                <a:latin typeface="Calibri"/>
              </a:rPr>
              <a:t>•  </a:t>
            </a:r>
            <a:r>
              <a:rPr sz="1500" dirty="0">
                <a:solidFill>
                  <a:srgbClr val="1A1A1A"/>
                </a:solidFill>
                <a:latin typeface="Calibri"/>
              </a:rPr>
              <a:t>Biographical text  →  aliases and event reification both trigger</a:t>
            </a:r>
          </a:p>
        </p:txBody>
      </p:sp>
      <p:sp>
        <p:nvSpPr>
          <p:cNvPr id="28" name="TextBox 27"/>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13 / 19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FINDINGS</a:t>
            </a:r>
          </a:p>
        </p:txBody>
      </p:sp>
      <p:sp>
        <p:nvSpPr>
          <p:cNvPr id="4" name="TextBox 3"/>
          <p:cNvSpPr txBox="1"/>
          <p:nvPr/>
        </p:nvSpPr>
        <p:spPr>
          <a:xfrm>
            <a:off x="457200" y="713232"/>
            <a:ext cx="2222275" cy="553998"/>
          </a:xfrm>
          <a:prstGeom prst="rect">
            <a:avLst/>
          </a:prstGeom>
          <a:noFill/>
        </p:spPr>
        <p:txBody>
          <a:bodyPr wrap="none" lIns="0">
            <a:spAutoFit/>
          </a:bodyPr>
          <a:lstStyle/>
          <a:p>
            <a:pPr algn="l"/>
            <a:r>
              <a:rPr lang="en-US" sz="3000" b="1" dirty="0">
                <a:solidFill>
                  <a:srgbClr val="1F3A5F"/>
                </a:solidFill>
                <a:latin typeface="Calibri"/>
              </a:rPr>
              <a:t>Real Example</a:t>
            </a:r>
            <a:endParaRPr sz="3000" b="1" dirty="0">
              <a:solidFill>
                <a:srgbClr val="1F3A5F"/>
              </a:solidFill>
              <a:latin typeface="Calibri"/>
            </a:endParaRP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2441694"/>
          </a:xfrm>
          <a:prstGeom prst="rect">
            <a:avLst/>
          </a:prstGeom>
          <a:noFill/>
        </p:spPr>
        <p:txBody>
          <a:bodyPr wrap="square" lIns="0">
            <a:spAutoFit/>
          </a:bodyPr>
          <a:lstStyle/>
          <a:p>
            <a:pPr>
              <a:spcAft>
                <a:spcPts val="800"/>
              </a:spcAft>
            </a:pPr>
            <a:r>
              <a:rPr lang="en-US" sz="1800" b="1" dirty="0">
                <a:solidFill>
                  <a:srgbClr val="C9A227"/>
                </a:solidFill>
                <a:latin typeface="Calibri"/>
              </a:rPr>
              <a:t>• </a:t>
            </a:r>
            <a:r>
              <a:rPr lang="en-US" b="1" dirty="0">
                <a:solidFill>
                  <a:srgbClr val="1A1A1A"/>
                </a:solidFill>
                <a:latin typeface="Calibri"/>
              </a:rPr>
              <a:t>Text : </a:t>
            </a:r>
            <a:r>
              <a:rPr lang="en-US" dirty="0"/>
              <a:t>Microsoft is headquartered in Redmond, Washington. Bill Gates founded the company, which develops Windows and Office.</a:t>
            </a:r>
          </a:p>
          <a:p>
            <a:pPr>
              <a:spcAft>
                <a:spcPts val="800"/>
              </a:spcAft>
            </a:pPr>
            <a:r>
              <a:rPr lang="en-US" b="1" dirty="0">
                <a:solidFill>
                  <a:srgbClr val="C9A227"/>
                </a:solidFill>
              </a:rPr>
              <a:t>• </a:t>
            </a:r>
            <a:r>
              <a:rPr lang="en-US" b="1" dirty="0"/>
              <a:t>Output:</a:t>
            </a:r>
          </a:p>
          <a:p>
            <a:pPr>
              <a:spcAft>
                <a:spcPts val="800"/>
              </a:spcAft>
            </a:pPr>
            <a:endParaRPr lang="en-US" dirty="0"/>
          </a:p>
          <a:p>
            <a:pPr>
              <a:spcAft>
                <a:spcPts val="800"/>
              </a:spcAft>
            </a:pPr>
            <a:endParaRPr lang="en-US" dirty="0"/>
          </a:p>
          <a:p>
            <a:pPr>
              <a:spcAft>
                <a:spcPts val="800"/>
              </a:spcAft>
            </a:pPr>
            <a:br>
              <a:rPr lang="en-US" dirty="0"/>
            </a:br>
            <a:endParaRPr lang="en-US" sz="1800" dirty="0">
              <a:solidFill>
                <a:srgbClr val="1A1A1A"/>
              </a:solidFill>
              <a:latin typeface="Calibri"/>
            </a:endParaRPr>
          </a:p>
        </p:txBody>
      </p:sp>
      <p:sp>
        <p:nvSpPr>
          <p:cNvPr id="8" name="TextBox 7"/>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14 / 19</a:t>
            </a:r>
          </a:p>
        </p:txBody>
      </p:sp>
      <p:pic>
        <p:nvPicPr>
          <p:cNvPr id="9" name="Picture 8">
            <a:extLst>
              <a:ext uri="{FF2B5EF4-FFF2-40B4-BE49-F238E27FC236}">
                <a16:creationId xmlns:a16="http://schemas.microsoft.com/office/drawing/2014/main" id="{234713DD-CFE6-8A2E-F213-6F98376BE0B4}"/>
              </a:ext>
            </a:extLst>
          </p:cNvPr>
          <p:cNvPicPr>
            <a:picLocks noChangeAspect="1"/>
          </p:cNvPicPr>
          <p:nvPr/>
        </p:nvPicPr>
        <p:blipFill>
          <a:blip r:embed="rId2"/>
          <a:stretch>
            <a:fillRect/>
          </a:stretch>
        </p:blipFill>
        <p:spPr>
          <a:xfrm>
            <a:off x="1763864" y="2526224"/>
            <a:ext cx="5943600" cy="34512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41A24-E4BD-BFC5-52D7-4242FE57702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DDF773C-3592-CCCF-581E-E7E8510D2387}"/>
              </a:ext>
            </a:extLst>
          </p:cNvPr>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DBE2C2B-B02E-378B-AC28-F4F57808BAE3}"/>
              </a:ext>
            </a:extLst>
          </p:cNvPr>
          <p:cNvSpPr txBox="1"/>
          <p:nvPr/>
        </p:nvSpPr>
        <p:spPr>
          <a:xfrm>
            <a:off x="81501" y="164592"/>
            <a:ext cx="10972800" cy="365760"/>
          </a:xfrm>
          <a:prstGeom prst="rect">
            <a:avLst/>
          </a:prstGeom>
          <a:noFill/>
        </p:spPr>
        <p:txBody>
          <a:bodyPr wrap="none" lIns="0">
            <a:spAutoFit/>
          </a:bodyPr>
          <a:lstStyle/>
          <a:p>
            <a:pPr algn="l"/>
            <a:r>
              <a:rPr sz="1100" b="1" dirty="0">
                <a:solidFill>
                  <a:srgbClr val="C9A227"/>
                </a:solidFill>
                <a:latin typeface="Calibri"/>
              </a:rPr>
              <a:t>FINDINGS</a:t>
            </a:r>
          </a:p>
        </p:txBody>
      </p:sp>
      <p:sp>
        <p:nvSpPr>
          <p:cNvPr id="8" name="TextBox 7">
            <a:extLst>
              <a:ext uri="{FF2B5EF4-FFF2-40B4-BE49-F238E27FC236}">
                <a16:creationId xmlns:a16="http://schemas.microsoft.com/office/drawing/2014/main" id="{01FB1928-CB57-D5FA-9275-CBACACD148D1}"/>
              </a:ext>
            </a:extLst>
          </p:cNvPr>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15 / 19</a:t>
            </a:r>
          </a:p>
        </p:txBody>
      </p:sp>
      <p:pic>
        <p:nvPicPr>
          <p:cNvPr id="11" name="Picture 10">
            <a:extLst>
              <a:ext uri="{FF2B5EF4-FFF2-40B4-BE49-F238E27FC236}">
                <a16:creationId xmlns:a16="http://schemas.microsoft.com/office/drawing/2014/main" id="{2905DCD9-B804-0204-17C3-157EB37CD863}"/>
              </a:ext>
            </a:extLst>
          </p:cNvPr>
          <p:cNvPicPr>
            <a:picLocks noChangeAspect="1"/>
          </p:cNvPicPr>
          <p:nvPr/>
        </p:nvPicPr>
        <p:blipFill>
          <a:blip r:embed="rId2"/>
          <a:stretch>
            <a:fillRect/>
          </a:stretch>
        </p:blipFill>
        <p:spPr>
          <a:xfrm>
            <a:off x="91440" y="164592"/>
            <a:ext cx="12140316" cy="6693408"/>
          </a:xfrm>
          <a:prstGeom prst="rect">
            <a:avLst/>
          </a:prstGeom>
        </p:spPr>
      </p:pic>
      <p:sp>
        <p:nvSpPr>
          <p:cNvPr id="4" name="TextBox 3">
            <a:extLst>
              <a:ext uri="{FF2B5EF4-FFF2-40B4-BE49-F238E27FC236}">
                <a16:creationId xmlns:a16="http://schemas.microsoft.com/office/drawing/2014/main" id="{E89A1175-818A-8145-274E-79D92422D4BD}"/>
              </a:ext>
            </a:extLst>
          </p:cNvPr>
          <p:cNvSpPr txBox="1"/>
          <p:nvPr/>
        </p:nvSpPr>
        <p:spPr>
          <a:xfrm>
            <a:off x="51684" y="31123"/>
            <a:ext cx="2222275" cy="553998"/>
          </a:xfrm>
          <a:prstGeom prst="rect">
            <a:avLst/>
          </a:prstGeom>
          <a:noFill/>
        </p:spPr>
        <p:txBody>
          <a:bodyPr wrap="none" lIns="0">
            <a:spAutoFit/>
          </a:bodyPr>
          <a:lstStyle/>
          <a:p>
            <a:pPr algn="l"/>
            <a:r>
              <a:rPr lang="en-US" sz="3000" b="1" dirty="0">
                <a:solidFill>
                  <a:srgbClr val="1F3A5F"/>
                </a:solidFill>
                <a:latin typeface="Calibri"/>
              </a:rPr>
              <a:t>Real Example</a:t>
            </a:r>
            <a:endParaRPr sz="3000" b="1" dirty="0">
              <a:solidFill>
                <a:srgbClr val="1F3A5F"/>
              </a:solidFill>
              <a:latin typeface="Calibri"/>
            </a:endParaRPr>
          </a:p>
        </p:txBody>
      </p:sp>
      <p:sp>
        <p:nvSpPr>
          <p:cNvPr id="5" name="Rectangle 4">
            <a:extLst>
              <a:ext uri="{FF2B5EF4-FFF2-40B4-BE49-F238E27FC236}">
                <a16:creationId xmlns:a16="http://schemas.microsoft.com/office/drawing/2014/main" id="{20742673-9F30-DCC0-B0F8-402E84159625}"/>
              </a:ext>
            </a:extLst>
          </p:cNvPr>
          <p:cNvSpPr/>
          <p:nvPr/>
        </p:nvSpPr>
        <p:spPr>
          <a:xfrm>
            <a:off x="91440" y="767698"/>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374833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6354B-B1DA-8AB9-9F47-678D90993E8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D15298-9AD8-ADF4-D700-881A4F15BC13}"/>
              </a:ext>
            </a:extLst>
          </p:cNvPr>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BE12BD1-6876-AFC8-3C9E-28B060B290FD}"/>
              </a:ext>
            </a:extLst>
          </p:cNvPr>
          <p:cNvSpPr txBox="1"/>
          <p:nvPr/>
        </p:nvSpPr>
        <p:spPr>
          <a:xfrm>
            <a:off x="548640" y="170742"/>
            <a:ext cx="10972800" cy="365760"/>
          </a:xfrm>
          <a:prstGeom prst="rect">
            <a:avLst/>
          </a:prstGeom>
          <a:noFill/>
        </p:spPr>
        <p:txBody>
          <a:bodyPr wrap="none" lIns="0">
            <a:spAutoFit/>
          </a:bodyPr>
          <a:lstStyle/>
          <a:p>
            <a:pPr algn="l"/>
            <a:r>
              <a:rPr sz="1100" b="1" dirty="0">
                <a:solidFill>
                  <a:srgbClr val="C9A227"/>
                </a:solidFill>
                <a:latin typeface="Calibri"/>
              </a:rPr>
              <a:t>FINDINGS</a:t>
            </a:r>
          </a:p>
        </p:txBody>
      </p:sp>
      <p:sp>
        <p:nvSpPr>
          <p:cNvPr id="4" name="TextBox 3">
            <a:extLst>
              <a:ext uri="{FF2B5EF4-FFF2-40B4-BE49-F238E27FC236}">
                <a16:creationId xmlns:a16="http://schemas.microsoft.com/office/drawing/2014/main" id="{93CC0C55-2243-11BA-482B-3FF6E14B9958}"/>
              </a:ext>
            </a:extLst>
          </p:cNvPr>
          <p:cNvSpPr txBox="1"/>
          <p:nvPr/>
        </p:nvSpPr>
        <p:spPr>
          <a:xfrm>
            <a:off x="457200" y="349999"/>
            <a:ext cx="2222275" cy="553998"/>
          </a:xfrm>
          <a:prstGeom prst="rect">
            <a:avLst/>
          </a:prstGeom>
          <a:noFill/>
        </p:spPr>
        <p:txBody>
          <a:bodyPr wrap="none" lIns="0">
            <a:spAutoFit/>
          </a:bodyPr>
          <a:lstStyle/>
          <a:p>
            <a:pPr algn="l"/>
            <a:r>
              <a:rPr lang="en-US" sz="3000" b="1" dirty="0">
                <a:solidFill>
                  <a:srgbClr val="1F3A5F"/>
                </a:solidFill>
                <a:latin typeface="Calibri"/>
              </a:rPr>
              <a:t>Real Example</a:t>
            </a:r>
            <a:endParaRPr sz="3000" b="1" dirty="0">
              <a:solidFill>
                <a:srgbClr val="1F3A5F"/>
              </a:solidFill>
              <a:latin typeface="Calibri"/>
            </a:endParaRPr>
          </a:p>
        </p:txBody>
      </p:sp>
      <p:sp>
        <p:nvSpPr>
          <p:cNvPr id="5" name="Rectangle 4">
            <a:extLst>
              <a:ext uri="{FF2B5EF4-FFF2-40B4-BE49-F238E27FC236}">
                <a16:creationId xmlns:a16="http://schemas.microsoft.com/office/drawing/2014/main" id="{25FCFC91-1393-EAF3-473A-0792031732E8}"/>
              </a:ext>
            </a:extLst>
          </p:cNvPr>
          <p:cNvSpPr/>
          <p:nvPr/>
        </p:nvSpPr>
        <p:spPr>
          <a:xfrm>
            <a:off x="502920" y="894058"/>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0DD5D9C-DCAB-91B1-3F21-7F61BA3A7885}"/>
              </a:ext>
            </a:extLst>
          </p:cNvPr>
          <p:cNvSpPr txBox="1"/>
          <p:nvPr/>
        </p:nvSpPr>
        <p:spPr>
          <a:xfrm>
            <a:off x="502920" y="1080561"/>
            <a:ext cx="11064240" cy="2718693"/>
          </a:xfrm>
          <a:prstGeom prst="rect">
            <a:avLst/>
          </a:prstGeom>
          <a:noFill/>
        </p:spPr>
        <p:txBody>
          <a:bodyPr wrap="square" lIns="0">
            <a:spAutoFit/>
          </a:bodyPr>
          <a:lstStyle/>
          <a:p>
            <a:pPr>
              <a:spcAft>
                <a:spcPts val="800"/>
              </a:spcAft>
            </a:pPr>
            <a:r>
              <a:rPr lang="en-US" sz="1800" b="1" dirty="0">
                <a:solidFill>
                  <a:srgbClr val="C9A227"/>
                </a:solidFill>
                <a:latin typeface="Calibri"/>
              </a:rPr>
              <a:t>• </a:t>
            </a:r>
            <a:r>
              <a:rPr lang="en-US" b="1" dirty="0">
                <a:solidFill>
                  <a:srgbClr val="1A1A1A"/>
                </a:solidFill>
                <a:latin typeface="Calibri"/>
              </a:rPr>
              <a:t>Text : </a:t>
            </a:r>
            <a:r>
              <a:rPr lang="en-US" dirty="0"/>
              <a:t>Mark Twain, born Samuel Clemens in Missouri, wrote The Adventures of Tom Sawyer and Adventures of Huckleberry Finn. He married Olivia Langdon in 1870, and the couple settled in Connecticut. Twain received an honorary doctorate from Oxford University in 1907..</a:t>
            </a:r>
          </a:p>
          <a:p>
            <a:pPr>
              <a:spcAft>
                <a:spcPts val="800"/>
              </a:spcAft>
            </a:pPr>
            <a:endParaRPr lang="en-US" b="1" dirty="0"/>
          </a:p>
          <a:p>
            <a:pPr>
              <a:spcAft>
                <a:spcPts val="800"/>
              </a:spcAft>
            </a:pPr>
            <a:endParaRPr lang="en-US" dirty="0"/>
          </a:p>
          <a:p>
            <a:pPr>
              <a:spcAft>
                <a:spcPts val="800"/>
              </a:spcAft>
            </a:pPr>
            <a:endParaRPr lang="en-US" dirty="0"/>
          </a:p>
          <a:p>
            <a:pPr>
              <a:spcAft>
                <a:spcPts val="800"/>
              </a:spcAft>
            </a:pPr>
            <a:br>
              <a:rPr lang="en-US" dirty="0"/>
            </a:br>
            <a:endParaRPr lang="en-US" sz="1800" dirty="0">
              <a:solidFill>
                <a:srgbClr val="1A1A1A"/>
              </a:solidFill>
              <a:latin typeface="Calibri"/>
            </a:endParaRPr>
          </a:p>
        </p:txBody>
      </p:sp>
      <p:sp>
        <p:nvSpPr>
          <p:cNvPr id="8" name="TextBox 7">
            <a:extLst>
              <a:ext uri="{FF2B5EF4-FFF2-40B4-BE49-F238E27FC236}">
                <a16:creationId xmlns:a16="http://schemas.microsoft.com/office/drawing/2014/main" id="{F35A9374-082C-AC49-173C-021014BEA740}"/>
              </a:ext>
            </a:extLst>
          </p:cNvPr>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16 / 19</a:t>
            </a:r>
          </a:p>
        </p:txBody>
      </p:sp>
      <p:pic>
        <p:nvPicPr>
          <p:cNvPr id="10" name="Picture 9">
            <a:extLst>
              <a:ext uri="{FF2B5EF4-FFF2-40B4-BE49-F238E27FC236}">
                <a16:creationId xmlns:a16="http://schemas.microsoft.com/office/drawing/2014/main" id="{226C2AF3-BD25-E794-8D0C-65CF137AC39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26987" y="1808363"/>
            <a:ext cx="5338915" cy="4234627"/>
          </a:xfrm>
          <a:prstGeom prst="rect">
            <a:avLst/>
          </a:prstGeom>
          <a:noFill/>
          <a:ln>
            <a:noFill/>
          </a:ln>
        </p:spPr>
      </p:pic>
      <p:sp>
        <p:nvSpPr>
          <p:cNvPr id="13" name="TextBox 12">
            <a:extLst>
              <a:ext uri="{FF2B5EF4-FFF2-40B4-BE49-F238E27FC236}">
                <a16:creationId xmlns:a16="http://schemas.microsoft.com/office/drawing/2014/main" id="{CF4A4CEF-4B34-6578-DD83-5F346362C01C}"/>
              </a:ext>
            </a:extLst>
          </p:cNvPr>
          <p:cNvSpPr txBox="1"/>
          <p:nvPr/>
        </p:nvSpPr>
        <p:spPr>
          <a:xfrm>
            <a:off x="8451546" y="6123229"/>
            <a:ext cx="889795" cy="369332"/>
          </a:xfrm>
          <a:prstGeom prst="rect">
            <a:avLst/>
          </a:prstGeom>
          <a:noFill/>
        </p:spPr>
        <p:txBody>
          <a:bodyPr wrap="none" rtlCol="0">
            <a:spAutoFit/>
          </a:bodyPr>
          <a:lstStyle/>
          <a:p>
            <a:r>
              <a:rPr lang="en-US" dirty="0"/>
              <a:t>Level 3 </a:t>
            </a:r>
          </a:p>
        </p:txBody>
      </p:sp>
      <p:pic>
        <p:nvPicPr>
          <p:cNvPr id="15" name="Picture 14">
            <a:extLst>
              <a:ext uri="{FF2B5EF4-FFF2-40B4-BE49-F238E27FC236}">
                <a16:creationId xmlns:a16="http://schemas.microsoft.com/office/drawing/2014/main" id="{2EB80F52-1EB9-886D-59A7-EDEF9B61FE4F}"/>
              </a:ext>
            </a:extLst>
          </p:cNvPr>
          <p:cNvPicPr>
            <a:picLocks noChangeAspect="1"/>
          </p:cNvPicPr>
          <p:nvPr/>
        </p:nvPicPr>
        <p:blipFill>
          <a:blip r:embed="rId3"/>
          <a:stretch>
            <a:fillRect/>
          </a:stretch>
        </p:blipFill>
        <p:spPr>
          <a:xfrm>
            <a:off x="430996" y="1948700"/>
            <a:ext cx="5158105" cy="4174529"/>
          </a:xfrm>
          <a:prstGeom prst="rect">
            <a:avLst/>
          </a:prstGeom>
        </p:spPr>
      </p:pic>
      <p:sp>
        <p:nvSpPr>
          <p:cNvPr id="12" name="TextBox 11">
            <a:extLst>
              <a:ext uri="{FF2B5EF4-FFF2-40B4-BE49-F238E27FC236}">
                <a16:creationId xmlns:a16="http://schemas.microsoft.com/office/drawing/2014/main" id="{7B38DDBD-0BF5-5E19-D542-411962C8CAD9}"/>
              </a:ext>
            </a:extLst>
          </p:cNvPr>
          <p:cNvSpPr txBox="1"/>
          <p:nvPr/>
        </p:nvSpPr>
        <p:spPr>
          <a:xfrm>
            <a:off x="2178658" y="6138669"/>
            <a:ext cx="889795" cy="369332"/>
          </a:xfrm>
          <a:prstGeom prst="rect">
            <a:avLst/>
          </a:prstGeom>
          <a:noFill/>
        </p:spPr>
        <p:txBody>
          <a:bodyPr wrap="none" rtlCol="0">
            <a:spAutoFit/>
          </a:bodyPr>
          <a:lstStyle/>
          <a:p>
            <a:r>
              <a:rPr lang="en-US" dirty="0"/>
              <a:t>Level 1 </a:t>
            </a:r>
          </a:p>
        </p:txBody>
      </p:sp>
    </p:spTree>
    <p:extLst>
      <p:ext uri="{BB962C8B-B14F-4D97-AF65-F5344CB8AC3E}">
        <p14:creationId xmlns:p14="http://schemas.microsoft.com/office/powerpoint/2010/main" val="287227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8668C-4A47-2598-76CE-6884AA30002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2C92622-09BB-6639-1775-9ED640F21B51}"/>
              </a:ext>
            </a:extLst>
          </p:cNvPr>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1F39FC2-B9A4-FA3A-78F0-84378FB0E1C1}"/>
              </a:ext>
            </a:extLst>
          </p:cNvPr>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FINDINGS</a:t>
            </a:r>
          </a:p>
        </p:txBody>
      </p:sp>
      <p:sp>
        <p:nvSpPr>
          <p:cNvPr id="4" name="TextBox 3">
            <a:extLst>
              <a:ext uri="{FF2B5EF4-FFF2-40B4-BE49-F238E27FC236}">
                <a16:creationId xmlns:a16="http://schemas.microsoft.com/office/drawing/2014/main" id="{A999A8AF-8737-9DE5-DD63-21C48CCB426C}"/>
              </a:ext>
            </a:extLst>
          </p:cNvPr>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What Worked</a:t>
            </a:r>
          </a:p>
        </p:txBody>
      </p:sp>
      <p:sp>
        <p:nvSpPr>
          <p:cNvPr id="5" name="Rectangle 4">
            <a:extLst>
              <a:ext uri="{FF2B5EF4-FFF2-40B4-BE49-F238E27FC236}">
                <a16:creationId xmlns:a16="http://schemas.microsoft.com/office/drawing/2014/main" id="{E901F95D-CB43-79FD-7806-DD89D6728753}"/>
              </a:ext>
            </a:extLst>
          </p:cNvPr>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670B1563-9F23-0F67-8A8C-9DCF4419AA62}"/>
              </a:ext>
            </a:extLst>
          </p:cNvPr>
          <p:cNvSpPr txBox="1"/>
          <p:nvPr/>
        </p:nvSpPr>
        <p:spPr>
          <a:xfrm>
            <a:off x="548640" y="1828800"/>
            <a:ext cx="11064240" cy="1508105"/>
          </a:xfrm>
          <a:prstGeom prst="rect">
            <a:avLst/>
          </a:prstGeom>
          <a:noFill/>
        </p:spPr>
        <p:txBody>
          <a:bodyPr wrap="square" lIns="0">
            <a:spAutoFit/>
          </a:bodyPr>
          <a:lstStyle/>
          <a:p>
            <a:pPr algn="l">
              <a:spcAft>
                <a:spcPts val="800"/>
              </a:spcAft>
            </a:pPr>
            <a:r>
              <a:rPr sz="1800" b="1" dirty="0">
                <a:solidFill>
                  <a:srgbClr val="C9A227"/>
                </a:solidFill>
                <a:latin typeface="Calibri"/>
              </a:rPr>
              <a:t>•  </a:t>
            </a:r>
            <a:r>
              <a:rPr sz="1800" dirty="0">
                <a:solidFill>
                  <a:srgbClr val="1A1A1A"/>
                </a:solidFill>
                <a:latin typeface="Calibri"/>
              </a:rPr>
              <a:t>Controlled vocabulary + [FALLBACK] kept the graph readable AND auditable.</a:t>
            </a:r>
          </a:p>
          <a:p>
            <a:pPr algn="l">
              <a:spcAft>
                <a:spcPts val="800"/>
              </a:spcAft>
            </a:pPr>
            <a:r>
              <a:rPr sz="1800" b="1" dirty="0">
                <a:solidFill>
                  <a:srgbClr val="C9A227"/>
                </a:solidFill>
                <a:latin typeface="Calibri"/>
              </a:rPr>
              <a:t>•  </a:t>
            </a:r>
            <a:r>
              <a:rPr sz="1800" dirty="0">
                <a:solidFill>
                  <a:srgbClr val="1A1A1A"/>
                </a:solidFill>
                <a:latin typeface="Calibri"/>
              </a:rPr>
              <a:t>Aliases reduced duplicates on biographical text.</a:t>
            </a:r>
          </a:p>
          <a:p>
            <a:pPr algn="l">
              <a:spcAft>
                <a:spcPts val="800"/>
              </a:spcAft>
            </a:pPr>
            <a:r>
              <a:rPr sz="1800" b="1" dirty="0">
                <a:solidFill>
                  <a:srgbClr val="C9A227"/>
                </a:solidFill>
                <a:latin typeface="Calibri"/>
              </a:rPr>
              <a:t>•  </a:t>
            </a:r>
            <a:r>
              <a:rPr sz="1800" dirty="0">
                <a:solidFill>
                  <a:srgbClr val="1A1A1A"/>
                </a:solidFill>
                <a:latin typeface="Calibri"/>
              </a:rPr>
              <a:t>Complexity slider was the most useful UI feature for long paragraphs.</a:t>
            </a:r>
          </a:p>
          <a:p>
            <a:pPr algn="l">
              <a:spcAft>
                <a:spcPts val="800"/>
              </a:spcAft>
            </a:pPr>
            <a:r>
              <a:rPr sz="1800" b="1" dirty="0">
                <a:solidFill>
                  <a:srgbClr val="C9A227"/>
                </a:solidFill>
                <a:latin typeface="Calibri"/>
              </a:rPr>
              <a:t>•  </a:t>
            </a:r>
            <a:r>
              <a:rPr sz="1800" dirty="0">
                <a:solidFill>
                  <a:srgbClr val="1A1A1A"/>
                </a:solidFill>
                <a:latin typeface="Calibri"/>
              </a:rPr>
              <a:t>Per-edge provenance made the graph clickable down to the source sentence.</a:t>
            </a:r>
          </a:p>
        </p:txBody>
      </p:sp>
      <p:sp>
        <p:nvSpPr>
          <p:cNvPr id="8" name="TextBox 7">
            <a:extLst>
              <a:ext uri="{FF2B5EF4-FFF2-40B4-BE49-F238E27FC236}">
                <a16:creationId xmlns:a16="http://schemas.microsoft.com/office/drawing/2014/main" id="{D4D1E03B-2C18-A6BC-E6FD-4FAACDE91047}"/>
              </a:ext>
            </a:extLst>
          </p:cNvPr>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17 / 19</a:t>
            </a:r>
          </a:p>
        </p:txBody>
      </p:sp>
    </p:spTree>
    <p:extLst>
      <p:ext uri="{BB962C8B-B14F-4D97-AF65-F5344CB8AC3E}">
        <p14:creationId xmlns:p14="http://schemas.microsoft.com/office/powerpoint/2010/main" val="1127919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ROADMAP</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Future Work</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4389120"/>
          </a:xfrm>
          <a:prstGeom prst="rect">
            <a:avLst/>
          </a:prstGeom>
          <a:noFill/>
        </p:spPr>
        <p:txBody>
          <a:bodyPr wrap="square" lIns="0">
            <a:spAutoFit/>
          </a:bodyPr>
          <a:lstStyle/>
          <a:p>
            <a:pPr algn="l">
              <a:spcAft>
                <a:spcPts val="800"/>
              </a:spcAft>
            </a:pPr>
            <a:r>
              <a:rPr sz="1800" b="1" dirty="0">
                <a:solidFill>
                  <a:srgbClr val="C9A227"/>
                </a:solidFill>
                <a:latin typeface="Calibri"/>
              </a:rPr>
              <a:t>•  </a:t>
            </a:r>
            <a:r>
              <a:rPr sz="1800" dirty="0">
                <a:solidFill>
                  <a:srgbClr val="1A1A1A"/>
                </a:solidFill>
                <a:latin typeface="Calibri"/>
              </a:rPr>
              <a:t>Quantitative evaluation against gold-standard datasets (TACRED, </a:t>
            </a:r>
            <a:r>
              <a:rPr sz="1800" dirty="0" err="1">
                <a:solidFill>
                  <a:srgbClr val="1A1A1A"/>
                </a:solidFill>
                <a:latin typeface="Calibri"/>
              </a:rPr>
              <a:t>DocRED</a:t>
            </a:r>
            <a:r>
              <a:rPr sz="1800" dirty="0">
                <a:solidFill>
                  <a:srgbClr val="1A1A1A"/>
                </a:solidFill>
                <a:latin typeface="Calibri"/>
              </a:rPr>
              <a:t>).</a:t>
            </a:r>
          </a:p>
          <a:p>
            <a:pPr algn="l">
              <a:spcAft>
                <a:spcPts val="800"/>
              </a:spcAft>
            </a:pPr>
            <a:r>
              <a:rPr sz="1800" b="1" dirty="0">
                <a:solidFill>
                  <a:srgbClr val="C9A227"/>
                </a:solidFill>
                <a:latin typeface="Calibri"/>
              </a:rPr>
              <a:t>•  </a:t>
            </a:r>
            <a:r>
              <a:rPr sz="1800" dirty="0">
                <a:solidFill>
                  <a:srgbClr val="1A1A1A"/>
                </a:solidFill>
                <a:latin typeface="Calibri"/>
              </a:rPr>
              <a:t>Cross-document entity linking — merge nodes across multiple texts.</a:t>
            </a:r>
          </a:p>
          <a:p>
            <a:pPr algn="l">
              <a:spcAft>
                <a:spcPts val="800"/>
              </a:spcAft>
            </a:pPr>
            <a:r>
              <a:rPr sz="1800" b="1" dirty="0">
                <a:solidFill>
                  <a:srgbClr val="C9A227"/>
                </a:solidFill>
                <a:latin typeface="Calibri"/>
              </a:rPr>
              <a:t>•  </a:t>
            </a:r>
            <a:r>
              <a:rPr sz="1800" dirty="0">
                <a:solidFill>
                  <a:srgbClr val="1A1A1A"/>
                </a:solidFill>
                <a:latin typeface="Calibri"/>
              </a:rPr>
              <a:t>Domain-specific vocabularies loaded as plug-ins.</a:t>
            </a:r>
          </a:p>
          <a:p>
            <a:pPr algn="l">
              <a:spcAft>
                <a:spcPts val="800"/>
              </a:spcAft>
            </a:pPr>
            <a:r>
              <a:rPr sz="1800" b="1" dirty="0">
                <a:solidFill>
                  <a:srgbClr val="C9A227"/>
                </a:solidFill>
                <a:latin typeface="Calibri"/>
              </a:rPr>
              <a:t>•  </a:t>
            </a:r>
            <a:r>
              <a:rPr sz="1800" dirty="0">
                <a:solidFill>
                  <a:srgbClr val="1A1A1A"/>
                </a:solidFill>
                <a:latin typeface="Calibri"/>
              </a:rPr>
              <a:t>Confidence calibration via a separate scoring model.</a:t>
            </a:r>
          </a:p>
          <a:p>
            <a:pPr algn="l">
              <a:spcAft>
                <a:spcPts val="800"/>
              </a:spcAft>
            </a:pPr>
            <a:r>
              <a:rPr sz="1800" b="1" dirty="0">
                <a:solidFill>
                  <a:srgbClr val="C9A227"/>
                </a:solidFill>
                <a:latin typeface="Calibri"/>
              </a:rPr>
              <a:t>•  </a:t>
            </a:r>
            <a:r>
              <a:rPr sz="1800" dirty="0">
                <a:solidFill>
                  <a:srgbClr val="1A1A1A"/>
                </a:solidFill>
                <a:latin typeface="Calibri"/>
              </a:rPr>
              <a:t>Multi-language extraction.</a:t>
            </a:r>
          </a:p>
        </p:txBody>
      </p:sp>
      <p:sp>
        <p:nvSpPr>
          <p:cNvPr id="8" name="TextBox 7"/>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18 / 19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WRAP-UP</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Summary</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4389120"/>
          </a:xfrm>
          <a:prstGeom prst="rect">
            <a:avLst/>
          </a:prstGeom>
          <a:noFill/>
        </p:spPr>
        <p:txBody>
          <a:bodyPr wrap="square" lIns="0">
            <a:spAutoFit/>
          </a:bodyPr>
          <a:lstStyle/>
          <a:p>
            <a:pPr algn="l">
              <a:spcAft>
                <a:spcPts val="800"/>
              </a:spcAft>
            </a:pPr>
            <a:r>
              <a:rPr sz="1700" b="1" dirty="0">
                <a:solidFill>
                  <a:srgbClr val="C9A227"/>
                </a:solidFill>
                <a:latin typeface="Calibri"/>
              </a:rPr>
              <a:t>•  </a:t>
            </a:r>
            <a:r>
              <a:rPr sz="1700" dirty="0">
                <a:solidFill>
                  <a:srgbClr val="1A1A1A"/>
                </a:solidFill>
                <a:latin typeface="Calibri"/>
              </a:rPr>
              <a:t>Working LLM-based knowledge graph extractor.</a:t>
            </a:r>
          </a:p>
          <a:p>
            <a:pPr algn="l">
              <a:spcAft>
                <a:spcPts val="800"/>
              </a:spcAft>
            </a:pPr>
            <a:r>
              <a:rPr sz="1700" b="1" dirty="0">
                <a:solidFill>
                  <a:srgbClr val="C9A227"/>
                </a:solidFill>
                <a:latin typeface="Calibri"/>
              </a:rPr>
              <a:t>•  </a:t>
            </a:r>
            <a:r>
              <a:rPr sz="1700" dirty="0">
                <a:solidFill>
                  <a:srgbClr val="1A1A1A"/>
                </a:solidFill>
                <a:latin typeface="Calibri"/>
              </a:rPr>
              <a:t>Hybrid schema: open entity types, closed relation vocabulary.</a:t>
            </a:r>
          </a:p>
          <a:p>
            <a:pPr algn="l">
              <a:spcAft>
                <a:spcPts val="800"/>
              </a:spcAft>
            </a:pPr>
            <a:r>
              <a:rPr sz="1700" b="1" dirty="0">
                <a:solidFill>
                  <a:srgbClr val="C9A227"/>
                </a:solidFill>
                <a:latin typeface="Calibri"/>
              </a:rPr>
              <a:t>•  </a:t>
            </a:r>
            <a:r>
              <a:rPr sz="1700" dirty="0">
                <a:solidFill>
                  <a:srgbClr val="1A1A1A"/>
                </a:solidFill>
                <a:latin typeface="Calibri"/>
              </a:rPr>
              <a:t>Provenance, confidence, aliases, and event reification built in.</a:t>
            </a:r>
          </a:p>
          <a:p>
            <a:pPr algn="l">
              <a:spcAft>
                <a:spcPts val="800"/>
              </a:spcAft>
            </a:pPr>
            <a:r>
              <a:rPr sz="1700" b="1" dirty="0">
                <a:solidFill>
                  <a:srgbClr val="C9A227"/>
                </a:solidFill>
                <a:latin typeface="Calibri"/>
              </a:rPr>
              <a:t>•  </a:t>
            </a:r>
            <a:r>
              <a:rPr sz="1700" dirty="0">
                <a:solidFill>
                  <a:srgbClr val="1A1A1A"/>
                </a:solidFill>
                <a:latin typeface="Calibri"/>
              </a:rPr>
              <a:t>Interactive visualization with layouts, filters, search, and importance ranking.</a:t>
            </a:r>
          </a:p>
          <a:p>
            <a:pPr algn="l">
              <a:spcAft>
                <a:spcPts val="800"/>
              </a:spcAft>
            </a:pPr>
            <a:r>
              <a:rPr sz="1700" b="1" dirty="0">
                <a:solidFill>
                  <a:srgbClr val="C9A227"/>
                </a:solidFill>
                <a:latin typeface="Calibri"/>
              </a:rPr>
              <a:t>•  </a:t>
            </a:r>
            <a:r>
              <a:rPr sz="1700" dirty="0">
                <a:solidFill>
                  <a:srgbClr val="1A1A1A"/>
                </a:solidFill>
                <a:latin typeface="Calibri"/>
              </a:rPr>
              <a:t>Reproducible: source code, prompt, schema, and exports all available.</a:t>
            </a:r>
          </a:p>
        </p:txBody>
      </p:sp>
      <p:sp>
        <p:nvSpPr>
          <p:cNvPr id="7" name="TextBox 6"/>
          <p:cNvSpPr txBox="1"/>
          <p:nvPr/>
        </p:nvSpPr>
        <p:spPr>
          <a:xfrm>
            <a:off x="548640" y="5486400"/>
            <a:ext cx="11064240" cy="430887"/>
          </a:xfrm>
          <a:prstGeom prst="rect">
            <a:avLst/>
          </a:prstGeom>
          <a:noFill/>
        </p:spPr>
        <p:txBody>
          <a:bodyPr wrap="square">
            <a:spAutoFit/>
          </a:bodyPr>
          <a:lstStyle/>
          <a:p>
            <a:pPr algn="ctr"/>
            <a:r>
              <a:rPr sz="2200" b="1" dirty="0">
                <a:solidFill>
                  <a:srgbClr val="1F3A5F"/>
                </a:solidFill>
                <a:latin typeface="Calibri"/>
              </a:rPr>
              <a:t>Thank you.</a:t>
            </a:r>
          </a:p>
        </p:txBody>
      </p:sp>
      <p:sp>
        <p:nvSpPr>
          <p:cNvPr id="9" name="TextBox 8"/>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56</TotalTime>
  <Words>1127</Words>
  <Application>Microsoft Office PowerPoint</Application>
  <PresentationFormat>Widescreen</PresentationFormat>
  <Paragraphs>173</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Mohammad Jehad Motaz</cp:lastModifiedBy>
  <cp:revision>9</cp:revision>
  <dcterms:created xsi:type="dcterms:W3CDTF">2013-01-27T09:14:16Z</dcterms:created>
  <dcterms:modified xsi:type="dcterms:W3CDTF">2026-05-23T16:54:07Z</dcterms:modified>
  <cp:category/>
</cp:coreProperties>
</file>