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0" y="0"/>
            <a:ext cx="73152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Calibri"/>
              </a:rPr>
              <a:t>CS585  ·  KNOWLEDGE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0"/>
            <a:ext cx="3200400" cy="9144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Mohamad Jehad Motaz Khachfa</a:t>
            </a:r>
          </a:p>
          <a:p>
            <a:r>
              <a:rPr sz="1200">
                <a:solidFill>
                  <a:srgbClr val="CFD6E0"/>
                </a:solidFill>
                <a:latin typeface="Calibri"/>
              </a:rPr>
              <a:t>ID: 800241913</a:t>
            </a:r>
          </a:p>
          <a:p>
            <a:r>
              <a:rPr sz="1100">
                <a:solidFill>
                  <a:srgbClr val="CFD6E0"/>
                </a:solidFill>
                <a:latin typeface="Calibri"/>
              </a:rPr>
              <a:t>The American University in Cairo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194560"/>
            <a:ext cx="7498079" cy="21945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Calibri"/>
              </a:rPr>
              <a:t>LLM-Powered</a:t>
            </a:r>
          </a:p>
          <a:p>
            <a:r>
              <a:rPr sz="4000" b="1">
                <a:solidFill>
                  <a:srgbClr val="1F3A5F"/>
                </a:solidFill>
                <a:latin typeface="Calibri"/>
              </a:rPr>
              <a:t>Knowledge Graph Extractor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4206240"/>
            <a:ext cx="7498079" cy="10972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800">
                <a:solidFill>
                  <a:srgbClr val="6B6B6B"/>
                </a:solidFill>
                <a:latin typeface="Calibri"/>
              </a:rPr>
              <a:t>With Provenance, Event Reification,
and Importance-Ranked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Knowledge Acquisition Bottleneck</a:t>
            </a:r>
            <a:r>
              <a:rPr sz="1800">
                <a:solidFill>
                  <a:srgbClr val="1A1A1A"/>
                </a:solidFill>
                <a:latin typeface="Calibri"/>
              </a:rPr>
              <a:t>  (Feigenbaum, 1977)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Knowledge graphs are useful for search, QA, and reasoning.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But building them by hand is slow and expensive.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11064240" cy="201168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6350">
            <a:solidFill>
              <a:srgbClr val="E3DE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Calibri"/>
              </a:rPr>
              <a:t>Goal of this project</a:t>
            </a:r>
          </a:p>
          <a:p>
            <a:r>
              <a:rPr sz="1800">
                <a:solidFill>
                  <a:srgbClr val="1A1A1A"/>
                </a:solidFill>
                <a:latin typeface="Calibri"/>
              </a:rPr>
              <a:t>Take a paragraph of English text and return a clean, typed, evidence-backed knowledge graph the user can read and explore.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A Short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Rule-based (1990s–2000s):</a:t>
            </a:r>
            <a:r>
              <a:rPr sz="1800">
                <a:solidFill>
                  <a:srgbClr val="1A1A1A"/>
                </a:solidFill>
                <a:latin typeface="Calibri"/>
              </a:rPr>
              <a:t>  regex, parsers, hand-crafted patterns. Precise, brittle.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Statistical / embeddings (2010s):</a:t>
            </a:r>
            <a:r>
              <a:rPr sz="1800">
                <a:solidFill>
                  <a:srgbClr val="1A1A1A"/>
                </a:solidFill>
                <a:latin typeface="Calibri"/>
              </a:rPr>
              <a:t>  TransE, RotatE. Learn from existing graphs, cannot read new text.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LLM-based (2020s):</a:t>
            </a:r>
            <a:r>
              <a:rPr sz="1800">
                <a:solidFill>
                  <a:srgbClr val="1A1A1A"/>
                </a:solidFill>
                <a:latin typeface="Calibri"/>
              </a:rPr>
              <a:t>  GPT, Claude, Gemini. Read free text, but hallucinate and invent relation names.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6350">
            <a:solidFill>
              <a:srgbClr val="E3DE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This project sits in the third generation — with explicit controls to keep the output usable.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Project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Open entity types</a:t>
            </a:r>
            <a:r>
              <a:rPr sz="1700">
                <a:solidFill>
                  <a:srgbClr val="1A1A1A"/>
                </a:solidFill>
                <a:latin typeface="Calibri"/>
              </a:rPr>
              <a:t>  discover what the text is about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Closed relation vocabulary</a:t>
            </a:r>
            <a:r>
              <a:rPr sz="1700">
                <a:solidFill>
                  <a:srgbClr val="1A1A1A"/>
                </a:solidFill>
                <a:latin typeface="Calibri"/>
              </a:rPr>
              <a:t>  23 named relations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Evidence</a:t>
            </a:r>
            <a:r>
              <a:rPr sz="1700">
                <a:solidFill>
                  <a:srgbClr val="1A1A1A"/>
                </a:solidFill>
                <a:latin typeface="Calibri"/>
              </a:rPr>
              <a:t>  source sentence for every node and edge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Confidence</a:t>
            </a:r>
            <a:r>
              <a:rPr sz="1700">
                <a:solidFill>
                  <a:srgbClr val="1A1A1A"/>
                </a:solidFill>
                <a:latin typeface="Calibri"/>
              </a:rPr>
              <a:t>  model self-reports certainty per edge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[FALLBACK] marker</a:t>
            </a:r>
            <a:r>
              <a:rPr sz="1700">
                <a:solidFill>
                  <a:srgbClr val="1A1A1A"/>
                </a:solidFill>
                <a:latin typeface="Calibri"/>
              </a:rPr>
              <a:t>  shown when the vocabulary is not enough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Interactive visualization</a:t>
            </a:r>
            <a:r>
              <a:rPr sz="1700">
                <a:solidFill>
                  <a:srgbClr val="1A1A1A"/>
                </a:solidFill>
                <a:latin typeface="Calibri"/>
              </a:rPr>
              <a:t>  filters, search, importance ranking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RDF / Turtle export</a:t>
            </a:r>
            <a:r>
              <a:rPr sz="1700">
                <a:solidFill>
                  <a:srgbClr val="1A1A1A"/>
                </a:solidFill>
                <a:latin typeface="Calibri"/>
              </a:rPr>
              <a:t>  with reified provenance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1828800"/>
            <a:ext cx="7406640" cy="594360"/>
          </a:xfrm>
          <a:prstGeom prst="roundRect">
            <a:avLst>
              <a:gd name="adj" fmla="val 30000"/>
            </a:avLst>
          </a:prstGeom>
          <a:solidFill>
            <a:srgbClr val="F4F1EA"/>
          </a:solidFill>
          <a:ln w="1587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User pastes text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97880" y="2427732"/>
            <a:ext cx="365760" cy="109728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77440" y="2532888"/>
            <a:ext cx="7406640" cy="594360"/>
          </a:xfrm>
          <a:prstGeom prst="roundRect">
            <a:avLst>
              <a:gd name="adj" fmla="val 30000"/>
            </a:avLst>
          </a:prstGeom>
          <a:solidFill>
            <a:srgbClr val="F4F1EA"/>
          </a:solidFill>
          <a:ln w="1587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Next.js frontend  /  /extract route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97880" y="3131820"/>
            <a:ext cx="365760" cy="109728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77440" y="3236976"/>
            <a:ext cx="7406640" cy="594360"/>
          </a:xfrm>
          <a:prstGeom prst="roundRect">
            <a:avLst>
              <a:gd name="adj" fmla="val 30000"/>
            </a:avLst>
          </a:prstGeom>
          <a:solidFill>
            <a:srgbClr val="F4F1EA"/>
          </a:solidFill>
          <a:ln w="1587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Node.js backend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97880" y="3835908"/>
            <a:ext cx="365760" cy="109728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77440" y="3941064"/>
            <a:ext cx="7406640" cy="594360"/>
          </a:xfrm>
          <a:prstGeom prst="roundRect">
            <a:avLst>
              <a:gd name="adj" fmla="val 30000"/>
            </a:avLst>
          </a:prstGeom>
          <a:solidFill>
            <a:srgbClr val="FBF4DF"/>
          </a:solidFill>
          <a:ln w="15875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500" b="1">
                <a:solidFill>
                  <a:srgbClr val="C9A227"/>
                </a:solidFill>
                <a:latin typeface="Calibri"/>
              </a:rPr>
              <a:t>LLM provider  (Anthropic / OpenAI / Gemini)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897880" y="4539996"/>
            <a:ext cx="365760" cy="109728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377440" y="4645152"/>
            <a:ext cx="7406640" cy="594360"/>
          </a:xfrm>
          <a:prstGeom prst="roundRect">
            <a:avLst>
              <a:gd name="adj" fmla="val 30000"/>
            </a:avLst>
          </a:prstGeom>
          <a:solidFill>
            <a:srgbClr val="F4F1EA"/>
          </a:solidFill>
          <a:ln w="1587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normalizeGraph()  ·  dedup · alias merge · validate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97880" y="5244084"/>
            <a:ext cx="365760" cy="109728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77440" y="5349240"/>
            <a:ext cx="7406640" cy="594360"/>
          </a:xfrm>
          <a:prstGeom prst="roundRect">
            <a:avLst>
              <a:gd name="adj" fmla="val 30000"/>
            </a:avLst>
          </a:prstGeom>
          <a:solidFill>
            <a:srgbClr val="F4F1EA"/>
          </a:solidFill>
          <a:ln w="1587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Cytoscape.js graph  +  Turtle / JSON-LD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KNOWLEDGE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Hybrid 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349240" cy="365760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800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Calibri"/>
              </a:rPr>
              <a:t>Entity types: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00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The LLM picks the type (Person, Company, Mountain, Award, …).
The system adapts to any domain.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828800"/>
            <a:ext cx="5349240" cy="365760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800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Calibri"/>
              </a:rPr>
              <a:t>Relations: CLOSED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43200"/>
            <a:ext cx="4800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23 fixed relations. The LLM must pick one, or mark the edge as [FALLBACK] for an audit.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6B6B6B"/>
                </a:solidFill>
                <a:latin typeface="Calibri"/>
              </a:rPr>
              <a:t>Readable (consistent edges) AND flexible (any text works).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The 23 Controlled Relations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works_for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828800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founded_by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828800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located_in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828800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part_of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6920" y="1828800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subsidiary_of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41448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owns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2441448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acquired_by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441448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competes_with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441448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collaborates_with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20" y="2441448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discovered_by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54096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born_in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3054096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lived_in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3054096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married_to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3054096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studied_at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3054096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awarded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66744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awarded_for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8920" y="3666744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co_recipient_with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3666744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authored_by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666744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participated_in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3666744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occurred_on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79392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has_role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88920" y="4279392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related_to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74920" y="4279392"/>
            <a:ext cx="224028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300" b="1">
                <a:solidFill>
                  <a:srgbClr val="1F3A5F"/>
                </a:solidFill>
                <a:latin typeface="Consolas"/>
              </a:rPr>
              <a:t>instance_of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Anything outside the list  →  related_to + [FALLBACK] evidence prefix.
This lets the user AUDIT where the vocabulary is too small.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Five Parts of the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Decision rules</a:t>
            </a:r>
            <a:r>
              <a:rPr sz="1800">
                <a:solidFill>
                  <a:srgbClr val="1A1A1A"/>
                </a:solidFill>
                <a:latin typeface="Calibri"/>
              </a:rPr>
              <a:t>  when to pick which relation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Event reification</a:t>
            </a:r>
            <a:r>
              <a:rPr sz="1800">
                <a:solidFill>
                  <a:srgbClr val="1A1A1A"/>
                </a:solidFill>
                <a:latin typeface="Calibri"/>
              </a:rPr>
              <a:t>  “X received Y in 2009” → an Award event node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Aliases</a:t>
            </a:r>
            <a:r>
              <a:rPr sz="1800">
                <a:solidFill>
                  <a:srgbClr val="1A1A1A"/>
                </a:solidFill>
                <a:latin typeface="Calibri"/>
              </a:rPr>
              <a:t>  merge “Microsoft”, “MSFT”, “the company”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Deduplication</a:t>
            </a:r>
            <a:r>
              <a:rPr sz="1800">
                <a:solidFill>
                  <a:srgbClr val="1A1A1A"/>
                </a:solidFill>
                <a:latin typeface="Calibri"/>
              </a:rPr>
              <a:t>  one node per real-world entity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Confidence + [FALLBACK]</a:t>
            </a:r>
            <a:r>
              <a:rPr sz="1800">
                <a:solidFill>
                  <a:srgbClr val="1A1A1A"/>
                </a:solidFill>
                <a:latin typeface="Calibri"/>
              </a:rPr>
              <a:t>  model self-reports certainty per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The prompt is the contract with the LLM. Five named parts, ~1k tokens.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N-ARY 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Event Reification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11155680" cy="914400"/>
          </a:xfrm>
          <a:prstGeom prst="roundRect">
            <a:avLst>
              <a:gd name="adj" fmla="val 15000"/>
            </a:avLst>
          </a:prstGeom>
          <a:solidFill>
            <a:srgbClr val="F4F1EA"/>
          </a:solidFill>
          <a:ln w="127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A1A1A"/>
                </a:solidFill>
                <a:latin typeface="Calibri"/>
              </a:rPr>
              <a:t>“Mark Twain received the Nobel-equivalent honor in 1907 with Henry James.”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260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6B6B6B"/>
                </a:solidFill>
                <a:latin typeface="Calibri"/>
              </a:rPr>
              <a:t>Instead of one flat edge, the prompt builds an Award event node: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3566160"/>
            <a:ext cx="274320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Calibri"/>
              </a:rPr>
              <a:t>Twain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6616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  <a:latin typeface="Consolas"/>
              </a:rPr>
              <a:t>—  awarded  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108960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A1A1A"/>
                </a:solidFill>
                <a:latin typeface="Calibri"/>
              </a:rPr>
              <a:t>AwardEvent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4160520"/>
            <a:ext cx="274320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Calibri"/>
              </a:rPr>
              <a:t>AwardEvent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16052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  <a:latin typeface="Consolas"/>
              </a:rPr>
              <a:t>—  awarded_for  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160520"/>
            <a:ext cx="3108960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A1A1A"/>
                </a:solidFill>
                <a:latin typeface="Calibri"/>
              </a:rPr>
              <a:t>literary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754880"/>
            <a:ext cx="274320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Calibri"/>
              </a:rPr>
              <a:t>AwardEvent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75488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  <a:latin typeface="Consolas"/>
              </a:rPr>
              <a:t>—  occurred_on  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754880"/>
            <a:ext cx="3108960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A1A1A"/>
                </a:solidFill>
                <a:latin typeface="Calibri"/>
              </a:rPr>
              <a:t>1907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0160" y="5349240"/>
            <a:ext cx="2743200" cy="502920"/>
          </a:xfrm>
          <a:prstGeom prst="roundRect">
            <a:avLst>
              <a:gd name="adj" fmla="val 40000"/>
            </a:avLst>
          </a:prstGeom>
          <a:solidFill>
            <a:srgbClr val="F4F1EA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F3A5F"/>
                </a:solidFill>
                <a:latin typeface="Calibri"/>
              </a:rPr>
              <a:t>Twain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349240"/>
            <a:ext cx="3931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  <a:latin typeface="Consolas"/>
              </a:rPr>
              <a:t>—  co_recipient_with  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5349240"/>
            <a:ext cx="3108960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9525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A1A1A"/>
                </a:solidFill>
                <a:latin typeface="Calibri"/>
              </a:rPr>
              <a:t>Henry James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Aliases and Deduplication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aliases field on every node</a:t>
            </a:r>
            <a:r>
              <a:rPr sz="1700">
                <a:solidFill>
                  <a:srgbClr val="1A1A1A"/>
                </a:solidFill>
                <a:latin typeface="Calibri"/>
              </a:rPr>
              <a:t>  {label: "Mark Twain", aliases: ["Samuel Clemens", "Clemens"]}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normalizeGraph()</a:t>
            </a:r>
            <a:r>
              <a:rPr sz="1700">
                <a:solidFill>
                  <a:srgbClr val="1A1A1A"/>
                </a:solidFill>
                <a:latin typeface="Calibri"/>
              </a:rPr>
              <a:t>  merges nodes that share an alias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Pronouns</a:t>
            </a:r>
            <a:r>
              <a:rPr sz="1700">
                <a:solidFill>
                  <a:srgbClr val="1A1A1A"/>
                </a:solidFill>
                <a:latin typeface="Calibri"/>
              </a:rPr>
              <a:t>  “he”, “the company” resolved to the canonical 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 b="1">
                <a:solidFill>
                  <a:srgbClr val="1F3A5F"/>
                </a:solidFill>
                <a:latin typeface="Calibri"/>
              </a:rPr>
              <a:t>UI</a:t>
            </a:r>
            <a:r>
              <a:rPr sz="1700">
                <a:solidFill>
                  <a:srgbClr val="1A1A1A"/>
                </a:solidFill>
                <a:latin typeface="Calibri"/>
              </a:rPr>
              <a:t>  aliases shown as small grey pills in the side panel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6350">
            <a:solidFill>
              <a:srgbClr val="E3DE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074920"/>
            <a:ext cx="10515600" cy="10972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Calibri"/>
              </a:rPr>
              <a:t>Example  —  Mark Twain passage:</a:t>
            </a:r>
          </a:p>
          <a:p>
            <a:r>
              <a:rPr sz="1500">
                <a:solidFill>
                  <a:srgbClr val="1A1A1A"/>
                </a:solidFill>
                <a:latin typeface="Calibri"/>
              </a:rPr>
              <a:t>17 alias mentions → 14 distinct nodes.   “Samuel Clemens” merged into “Mark Twain.”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Confidence and [FALLBACK]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relation</a:t>
            </a:r>
            <a:r>
              <a:rPr sz="1800">
                <a:solidFill>
                  <a:srgbClr val="1A1A1A"/>
                </a:solidFill>
                <a:latin typeface="Calibri"/>
              </a:rPr>
              <a:t>  one of the 23 controlled relations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evidence</a:t>
            </a:r>
            <a:r>
              <a:rPr sz="1800">
                <a:solidFill>
                  <a:srgbClr val="1A1A1A"/>
                </a:solidFill>
                <a:latin typeface="Calibri"/>
              </a:rPr>
              <a:t>  the source sentence  (or  [FALLBACK] …)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confidence</a:t>
            </a:r>
            <a:r>
              <a:rPr sz="1800">
                <a:solidFill>
                  <a:srgbClr val="1A1A1A"/>
                </a:solidFill>
                <a:latin typeface="Calibri"/>
              </a:rPr>
              <a:t>  a number in [0, 1], self-reported by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600" b="1">
                <a:solidFill>
                  <a:srgbClr val="2E7D32"/>
                </a:solidFill>
                <a:latin typeface="Calibri"/>
              </a:rPr>
              <a:t>≥ 0.80</a:t>
            </a:r>
          </a:p>
          <a:p>
            <a:pPr algn="ctr"/>
            <a:r>
              <a:rPr sz="1200">
                <a:solidFill>
                  <a:srgbClr val="6B6B6B"/>
                </a:solidFill>
                <a:latin typeface="Calibri"/>
              </a:rPr>
              <a:t>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40233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F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600" b="1">
                <a:solidFill>
                  <a:srgbClr val="EF6C00"/>
                </a:solidFill>
                <a:latin typeface="Calibri"/>
              </a:rPr>
              <a:t>0.50–0.79</a:t>
            </a:r>
          </a:p>
          <a:p>
            <a:pPr algn="ctr"/>
            <a:r>
              <a:rPr sz="1200">
                <a:solidFill>
                  <a:srgbClr val="6B6B6B"/>
                </a:solidFill>
                <a:latin typeface="Calibri"/>
              </a:rPr>
              <a:t>mid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600" b="1">
                <a:solidFill>
                  <a:srgbClr val="C62828"/>
                </a:solidFill>
                <a:latin typeface="Calibri"/>
              </a:rPr>
              <a:t>&lt; 0.50</a:t>
            </a:r>
          </a:p>
          <a:p>
            <a:pPr algn="ctr"/>
            <a:r>
              <a:rPr sz="1200">
                <a:solidFill>
                  <a:srgbClr val="6B6B6B"/>
                </a:solidFill>
                <a:latin typeface="Calibri"/>
              </a:rPr>
              <a:t>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40233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600" b="1">
                <a:solidFill>
                  <a:srgbClr val="6B6B6B"/>
                </a:solidFill>
                <a:latin typeface="Calibri"/>
              </a:rPr>
              <a:t>[FALLBACK]</a:t>
            </a:r>
          </a:p>
          <a:p>
            <a:pPr algn="ctr"/>
            <a:r>
              <a:rPr sz="1200">
                <a:solidFill>
                  <a:srgbClr val="6B6B6B"/>
                </a:solidFill>
                <a:latin typeface="Calibri"/>
              </a:rPr>
              <a:t>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User decides what to trust — instead of getting one mystery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Provenance and Output Formats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JSON</a:t>
            </a:r>
            <a:r>
              <a:rPr sz="1800">
                <a:solidFill>
                  <a:srgbClr val="1A1A1A"/>
                </a:solidFill>
                <a:latin typeface="Calibri"/>
              </a:rPr>
              <a:t>  nodes, edges, evidence, confidence, aliases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Turtle / RDF</a:t>
            </a:r>
            <a:r>
              <a:rPr sz="1800">
                <a:solidFill>
                  <a:srgbClr val="1A1A1A"/>
                </a:solidFill>
                <a:latin typeface="Calibri"/>
              </a:rPr>
              <a:t>  edges as rdf:Statement reifications, kg:evidence, kg:confidence (PROV-O)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PNG</a:t>
            </a:r>
            <a:r>
              <a:rPr sz="1800">
                <a:solidFill>
                  <a:srgbClr val="1A1A1A"/>
                </a:solidFill>
                <a:latin typeface="Calibri"/>
              </a:rPr>
              <a:t>  one-click export of the current graph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6B"/>
                </a:solidFill>
                <a:latin typeface="Calibri"/>
              </a:rPr>
              <a:t>Downstream tools can verify WHY each fact is in the graph, not just WHAT it claims.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Interactive Visualization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•  </a:t>
            </a:r>
            <a:r>
              <a:rPr sz="1600" b="1">
                <a:solidFill>
                  <a:srgbClr val="1F3A5F"/>
                </a:solidFill>
                <a:latin typeface="Calibri"/>
              </a:rPr>
              <a:t>5 layouts</a:t>
            </a:r>
            <a:r>
              <a:rPr sz="1600">
                <a:solidFill>
                  <a:srgbClr val="1A1A1A"/>
                </a:solidFill>
                <a:latin typeface="Calibri"/>
              </a:rPr>
              <a:t>  Force · Concentric · Hierarchy · Circle · Grid (default picked from hub ratio)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•  </a:t>
            </a:r>
            <a:r>
              <a:rPr sz="1600" b="1">
                <a:solidFill>
                  <a:srgbClr val="1F3A5F"/>
                </a:solidFill>
                <a:latin typeface="Calibri"/>
              </a:rPr>
              <a:t>Live search</a:t>
            </a:r>
            <a:r>
              <a:rPr sz="1600">
                <a:solidFill>
                  <a:srgbClr val="1A1A1A"/>
                </a:solidFill>
                <a:latin typeface="Calibri"/>
              </a:rPr>
              <a:t>  highlights matching nodes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•  </a:t>
            </a:r>
            <a:r>
              <a:rPr sz="1600" b="1">
                <a:solidFill>
                  <a:srgbClr val="1F3A5F"/>
                </a:solidFill>
                <a:latin typeface="Calibri"/>
              </a:rPr>
              <a:t>Relation chips</a:t>
            </a:r>
            <a:r>
              <a:rPr sz="1600">
                <a:solidFill>
                  <a:srgbClr val="1A1A1A"/>
                </a:solidFill>
                <a:latin typeface="Calibri"/>
              </a:rPr>
              <a:t>  hide / show each of the 23 relations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•  </a:t>
            </a:r>
            <a:r>
              <a:rPr sz="1600" b="1">
                <a:solidFill>
                  <a:srgbClr val="1F3A5F"/>
                </a:solidFill>
                <a:latin typeface="Calibri"/>
              </a:rPr>
              <a:t>Hide individual entities</a:t>
            </a:r>
            <a:r>
              <a:rPr sz="1600">
                <a:solidFill>
                  <a:srgbClr val="1A1A1A"/>
                </a:solidFill>
                <a:latin typeface="Calibri"/>
              </a:rPr>
              <a:t>  with one-click restore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•  </a:t>
            </a:r>
            <a:r>
              <a:rPr sz="1600" b="1">
                <a:solidFill>
                  <a:srgbClr val="1F3A5F"/>
                </a:solidFill>
                <a:latin typeface="Calibri"/>
              </a:rPr>
              <a:t>Edge labels</a:t>
            </a:r>
            <a:r>
              <a:rPr sz="1600">
                <a:solidFill>
                  <a:srgbClr val="1A1A1A"/>
                </a:solidFill>
                <a:latin typeface="Calibri"/>
              </a:rPr>
              <a:t>  on hover or always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•  </a:t>
            </a:r>
            <a:r>
              <a:rPr sz="1600" b="1">
                <a:solidFill>
                  <a:srgbClr val="1F3A5F"/>
                </a:solidFill>
                <a:latin typeface="Calibri"/>
              </a:rPr>
              <a:t>Date nodes</a:t>
            </a:r>
            <a:r>
              <a:rPr sz="1600">
                <a:solidFill>
                  <a:srgbClr val="1A1A1A"/>
                </a:solidFill>
                <a:latin typeface="Calibri"/>
              </a:rPr>
              <a:t>  on/off — clean ‘paper-ready’ view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•  </a:t>
            </a:r>
            <a:r>
              <a:rPr sz="1600" b="1">
                <a:solidFill>
                  <a:srgbClr val="1F3A5F"/>
                </a:solidFill>
                <a:latin typeface="Calibri"/>
              </a:rPr>
              <a:t>Zoom · Fit · PNG</a:t>
            </a:r>
            <a:r>
              <a:rPr sz="1600">
                <a:solidFill>
                  <a:srgbClr val="1A1A1A"/>
                </a:solidFill>
                <a:latin typeface="Calibri"/>
              </a:rPr>
              <a:t>  standard controls in the toolbar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Importance-Ranked Complexity Slider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Node score</a:t>
            </a:r>
            <a:r>
              <a:rPr sz="1800">
                <a:solidFill>
                  <a:srgbClr val="1A1A1A"/>
                </a:solidFill>
                <a:latin typeface="Calibri"/>
              </a:rPr>
              <a:t>  score = degree + 2 × mention_count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Levels</a:t>
            </a:r>
            <a:r>
              <a:rPr sz="1800">
                <a:solidFill>
                  <a:srgbClr val="1A1A1A"/>
                </a:solidFill>
                <a:latin typeface="Calibri"/>
              </a:rPr>
              <a:t>  min(7, max(3, ⌈N / 5⌉))   —   3 to 7 levels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Level 1</a:t>
            </a:r>
            <a:r>
              <a:rPr sz="1800">
                <a:solidFill>
                  <a:srgbClr val="1A1A1A"/>
                </a:solidFill>
                <a:latin typeface="Calibri"/>
              </a:rPr>
              <a:t>  only the most central + most-mentioned entities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 b="1">
                <a:solidFill>
                  <a:srgbClr val="1F3A5F"/>
                </a:solidFill>
                <a:latin typeface="Calibri"/>
              </a:rPr>
              <a:t>Max level</a:t>
            </a:r>
            <a:r>
              <a:rPr sz="1800">
                <a:solidFill>
                  <a:srgbClr val="1A1A1A"/>
                </a:solidFill>
                <a:latin typeface="Calibri"/>
              </a:rPr>
              <a:t>  the full 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6350">
            <a:solidFill>
              <a:srgbClr val="E3DE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074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Calibri"/>
              </a:rPr>
              <a:t>Use case</a:t>
            </a:r>
          </a:p>
          <a:p>
            <a:r>
              <a:rPr sz="1500">
                <a:solidFill>
                  <a:srgbClr val="1A1A1A"/>
                </a:solidFill>
                <a:latin typeface="Calibri"/>
              </a:rPr>
              <a:t>Scan the big picture at level 1, then open up gradually — without losing the underlying graph.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Evaluation — Three Passages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4297680" cy="502920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Passage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828800"/>
            <a:ext cx="1554480" cy="502920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Entities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1554480" cy="502920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Edges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828800"/>
            <a:ext cx="1554480" cy="502920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0" y="1828800"/>
            <a:ext cx="2103120" cy="502920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Merged aliases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42976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Microsoft (short, 4 sentences)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331720"/>
            <a:ext cx="15544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331720"/>
            <a:ext cx="15544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2331720"/>
            <a:ext cx="15544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2331720"/>
            <a:ext cx="210312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34640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Research Aims (long paragraph)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283464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~35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83464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~50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80" y="283464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several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834640"/>
            <a:ext cx="2103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42976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Mark Twain (biographical)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3337560"/>
            <a:ext cx="15544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337560"/>
            <a:ext cx="15544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80" y="3337560"/>
            <a:ext cx="155448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3337560"/>
            <a:ext cx="2103120" cy="502920"/>
          </a:xfrm>
          <a:prstGeom prst="rect">
            <a:avLst/>
          </a:prstGeom>
          <a:solidFill>
            <a:srgbClr val="F4F1EA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1 (Clemens)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9768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>
                <a:solidFill>
                  <a:srgbClr val="1A1A1A"/>
                </a:solidFill>
                <a:latin typeface="Calibri"/>
              </a:rPr>
              <a:t>Short, clear text  →  small, accurate graph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>
                <a:solidFill>
                  <a:srgbClr val="1A1A1A"/>
                </a:solidFill>
                <a:latin typeface="Calibri"/>
              </a:rPr>
              <a:t>Long encyclopedic text  →  complexity slider becomes essential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>
                <a:solidFill>
                  <a:srgbClr val="1A1A1A"/>
                </a:solidFill>
                <a:latin typeface="Calibri"/>
              </a:rPr>
              <a:t>Biographical text  →  aliases and event reification both trigger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What Worked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Controlled vocabulary + [FALLBACK] kept the graph readable AND auditable.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Event reification handled n-ary facts that plain triples cannot.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Aliases reduced duplicates on biographical text.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Complexity slider was the most useful UI feature for long paragraphs.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Per-edge provenance made the graph clickable down to the source sentence.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23 relations is a starting set — specialized domains need their own vocabulary.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Confidence is self-reported by the LLM and not calibrated.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Single-pass extraction — same text submitted twice produces two separate nodes.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Evaluation is qualitative on three passages. Quantitative study is future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Quantitative evaluation against gold-standard datasets (TACRED, DocRED).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Cross-document entity linking — merge nodes across multiple texts.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Domain-specific vocabularies loaded as plug-ins.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Confidence calibration via a separate scoring model.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Multi-language extraction.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8229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Working LLM-based knowledge graph extractor.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Hybrid schema: open entity types, closed relation vocabulary.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Provenance, confidence, aliases, and event reification built in.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Interactive visualization with layouts, filters, search, and importance ranking.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Reproducible: source code, prompt, schema, and exports all available.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F3A5F"/>
                </a:solidFill>
                <a:latin typeface="Calibri"/>
              </a:rPr>
              <a:t>Thank you.</a:t>
            </a:r>
          </a:p>
          <a:p>
            <a:pPr algn="ctr"/>
            <a:r>
              <a:rPr sz="1400">
                <a:solidFill>
                  <a:srgbClr val="6B6B6B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900">
                <a:solidFill>
                  <a:srgbClr val="6B6B6B"/>
                </a:solidFill>
                <a:latin typeface="Calibri"/>
              </a:rPr>
              <a:t>CS585  ·  LLM-Powered Knowledge Graph Extractor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900">
                <a:solidFill>
                  <a:srgbClr val="6B6B6B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