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058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F8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LLM-Powered</a:t>
            </a:r>
            <a:endParaRPr lang="en-US" sz="6400" dirty="0"/>
          </a:p>
          <a:p>
            <a:pPr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F8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Graph</a:t>
            </a:r>
            <a:endParaRPr lang="en-US" sz="6400" dirty="0"/>
          </a:p>
          <a:p>
            <a:pPr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F8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Extractor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640080" y="4937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i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unstructured text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267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CS585 · KNOWLEDGE ENGINEERING · COURSE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32720" y="5120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0" i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∴</a:t>
            </a:r>
            <a:endParaRPr lang="en-US" sz="11000" dirty="0"/>
          </a:p>
        </p:txBody>
      </p:sp>
      <p:sp>
        <p:nvSpPr>
          <p:cNvPr id="6" name="Shape 4"/>
          <p:cNvSpPr/>
          <p:nvPr/>
        </p:nvSpPr>
        <p:spPr>
          <a:xfrm>
            <a:off x="640080" y="5943600"/>
            <a:ext cx="10881360" cy="0"/>
          </a:xfrm>
          <a:prstGeom prst="line">
            <a:avLst/>
          </a:prstGeom>
          <a:noFill/>
          <a:ln w="9525">
            <a:solidFill>
              <a:srgbClr val="A267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080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Author · Graduate Program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CS585 · Knowledge 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THE 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Knowledge Acquisition Bottleneck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029200" cy="3657600"/>
          </a:xfrm>
          <a:prstGeom prst="rect">
            <a:avLst/>
          </a:prstGeom>
          <a:solidFill>
            <a:srgbClr val="FBF6EE"/>
          </a:solidFill>
          <a:ln w="6350">
            <a:solidFill>
              <a:srgbClr val="D8CF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860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i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40+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Feigenbaum first named it,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knowledge bases is still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expensive, and brittle.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0" y="21031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TRADITIONAL PIPELINE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0" y="2560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00800" y="2560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 the domain expert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29260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sessions, ambiguity, missed corners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0" y="3429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0" y="3429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Hand-design an ontology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37947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types, relation labels, axioms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0" y="4297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00800" y="42976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 rules manually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46634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train per-domain NER + RE models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0" y="5166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0800" y="5166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Curate &amp; maintain forever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0" y="55321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shift breaks everything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CS585 · Knowledge 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THE IDEA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if the LLM is the knowledge engineer?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4572000" cy="3657600"/>
          </a:xfrm>
          <a:prstGeom prst="rect">
            <a:avLst/>
          </a:prstGeom>
          <a:solidFill>
            <a:srgbClr val="FBF6EE"/>
          </a:solidFill>
          <a:ln w="6350">
            <a:solidFill>
              <a:srgbClr val="D8CF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68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A8F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UNSTRUCTURED TEXT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4206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i="1" dirty="0">
                <a:solidFill>
                  <a:srgbClr val="2A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 Curie was a Polish-born physicist who became the first woman to win a Nobel Prize. She founded the Curie Institute in Paris…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12080" y="37490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5029200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extracts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040880" y="2286000"/>
            <a:ext cx="4572000" cy="3657600"/>
          </a:xfrm>
          <a:prstGeom prst="rect">
            <a:avLst/>
          </a:prstGeom>
          <a:solidFill>
            <a:srgbClr val="FBF6EE"/>
          </a:solidFill>
          <a:ln w="6350">
            <a:solidFill>
              <a:srgbClr val="D8CF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0" y="2468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A8F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STRUCTURED GRAPH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412480" y="3611880"/>
            <a:ext cx="1691640" cy="960120"/>
          </a:xfrm>
          <a:prstGeom prst="line">
            <a:avLst/>
          </a:prstGeom>
          <a:noFill/>
          <a:ln w="19050">
            <a:solidFill>
              <a:srgbClr val="A267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0" y="4663440"/>
            <a:ext cx="-2103120" cy="640080"/>
          </a:xfrm>
          <a:prstGeom prst="line">
            <a:avLst/>
          </a:prstGeom>
          <a:noFill/>
          <a:ln w="19050">
            <a:solidFill>
              <a:srgbClr val="A267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3611880"/>
            <a:ext cx="-365760" cy="1691640"/>
          </a:xfrm>
          <a:prstGeom prst="line">
            <a:avLst/>
          </a:prstGeom>
          <a:noFill/>
          <a:ln w="19050">
            <a:solidFill>
              <a:srgbClr val="A267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65008" y="3218688"/>
            <a:ext cx="329184" cy="329184"/>
          </a:xfrm>
          <a:prstGeom prst="ellipse">
            <a:avLst/>
          </a:prstGeom>
          <a:solidFill>
            <a:srgbClr val="6D2E46"/>
          </a:solidFill>
          <a:ln w="19050">
            <a:solidFill>
              <a:srgbClr val="FBF6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3584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 Curie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893808" y="4315968"/>
            <a:ext cx="329184" cy="329184"/>
          </a:xfrm>
          <a:prstGeom prst="ellipse">
            <a:avLst/>
          </a:prstGeom>
          <a:solidFill>
            <a:srgbClr val="3A5A78"/>
          </a:solidFill>
          <a:ln w="19050">
            <a:solidFill>
              <a:srgbClr val="FBF6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0" y="4681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Curie Institute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07808" y="5047488"/>
            <a:ext cx="329184" cy="329184"/>
          </a:xfrm>
          <a:prstGeom prst="ellipse">
            <a:avLst/>
          </a:prstGeom>
          <a:solidFill>
            <a:srgbClr val="5C7558"/>
          </a:solidFill>
          <a:ln w="19050">
            <a:solidFill>
              <a:srgbClr val="FBF6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5413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0" y="39776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4A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founded_by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595360" y="51206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4A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located_in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single LLM call replaces weeks of manual knowledge engineering.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CS585 · Knowledge 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RELATED WORK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eras of knowledge graph construction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" y="1828800"/>
            <a:ext cx="3657600" cy="4114800"/>
          </a:xfrm>
          <a:prstGeom prst="rect">
            <a:avLst/>
          </a:prstGeom>
          <a:solidFill>
            <a:srgbClr val="FBF6EE"/>
          </a:solidFill>
          <a:ln w="6350">
            <a:solidFill>
              <a:srgbClr val="D8CF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116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i="1" dirty="0">
                <a:solidFill>
                  <a:srgbClr val="5A4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94360" y="3200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Rule-based &amp; supervised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3657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A8F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1990S — 2010S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4069080"/>
            <a:ext cx="310896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42062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Hand-crafted NER + RE pipelines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NELL: years of human curation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Domain-bound, brittle to shift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51960" y="1828800"/>
            <a:ext cx="3657600" cy="4114800"/>
          </a:xfrm>
          <a:prstGeom prst="rect">
            <a:avLst/>
          </a:prstGeom>
          <a:solidFill>
            <a:srgbClr val="FBF6EE"/>
          </a:solidFill>
          <a:ln w="6350">
            <a:solidFill>
              <a:srgbClr val="D8CF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20116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i="1" dirty="0">
                <a:solidFill>
                  <a:srgbClr val="3A5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4526280" y="3200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Embedding-based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26280" y="3657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A8F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2013 — PRESENT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26280" y="4069080"/>
            <a:ext cx="310896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42062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TransE, RotatE, ComplEx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over existing graphs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Doesn’t build them from text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83880" y="1828800"/>
            <a:ext cx="3657600" cy="4114800"/>
          </a:xfrm>
          <a:prstGeom prst="rect">
            <a:avLst/>
          </a:prstGeom>
          <a:solidFill>
            <a:srgbClr val="FBF6EE"/>
          </a:solidFill>
          <a:ln w="6350">
            <a:solidFill>
              <a:srgbClr val="D8CF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58200" y="20116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i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8458200" y="3200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LLM-driven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58200" y="3657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A8F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 — NOW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458200" y="4069080"/>
            <a:ext cx="310896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58200" y="42062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extraction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GraphRAG, Neo4j LLM Builder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CS585 · Knowledge 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design choices that matter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" y="1828800"/>
            <a:ext cx="3657600" cy="4114800"/>
          </a:xfrm>
          <a:prstGeom prst="rect">
            <a:avLst/>
          </a:prstGeom>
          <a:solidFill>
            <a:srgbClr val="FBF6EE"/>
          </a:solidFill>
          <a:ln w="6350">
            <a:solidFill>
              <a:srgbClr val="D8CF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116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94360" y="28346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200" b="1" i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types,</a:t>
            </a:r>
            <a:endParaRPr lang="en-US" sz="22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2200" b="1" i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controlled relations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42062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types are unbounded in real text. Relations must be controlled to keep the graph queryable.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5349240"/>
            <a:ext cx="3108960" cy="365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5349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8F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relations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51960" y="1828800"/>
            <a:ext cx="3657600" cy="4114800"/>
          </a:xfrm>
          <a:prstGeom prst="rect">
            <a:avLst/>
          </a:prstGeom>
          <a:solidFill>
            <a:srgbClr val="FBF6EE"/>
          </a:solidFill>
          <a:ln w="6350">
            <a:solidFill>
              <a:srgbClr val="D8CF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20116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A5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526280" y="28346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200" b="1" i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Provenance by</a:t>
            </a:r>
            <a:endParaRPr lang="en-US" sz="22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2200" b="1" i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default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26280" y="42062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carries source sentences; every edge carries the verbatim sentence supporting it.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26280" y="5349240"/>
            <a:ext cx="3108960" cy="365760"/>
          </a:xfrm>
          <a:prstGeom prst="rect">
            <a:avLst/>
          </a:prstGeom>
          <a:solidFill>
            <a:srgbClr val="3A5A78"/>
          </a:solidFill>
          <a:ln w="12700">
            <a:solidFill>
              <a:srgbClr val="3A5A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5349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8F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 to verify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83880" y="1828800"/>
            <a:ext cx="3657600" cy="4114800"/>
          </a:xfrm>
          <a:prstGeom prst="rect">
            <a:avLst/>
          </a:prstGeom>
          <a:solidFill>
            <a:srgbClr val="FBF6EE"/>
          </a:solidFill>
          <a:ln w="6350">
            <a:solidFill>
              <a:srgbClr val="D8CF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58200" y="20116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87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8458200" y="28346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200" b="1" i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Schema-aware</a:t>
            </a:r>
            <a:endParaRPr lang="en-US" sz="22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2200" b="1" i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decoding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458200" y="42062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provider uses its strictest structured-output mechanism — tool use, JSON Schema, responseSchema.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458200" y="5349240"/>
            <a:ext cx="3108960" cy="365760"/>
          </a:xfrm>
          <a:prstGeom prst="rect">
            <a:avLst/>
          </a:prstGeom>
          <a:solidFill>
            <a:srgbClr val="B8783A"/>
          </a:solidFill>
          <a:ln w="12700">
            <a:solidFill>
              <a:srgbClr val="B878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58200" y="5349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8F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Validates by construction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CS585 · Knowledge 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THE VOCABULARY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controlled vocabulary of fifteen relations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entity types absorb the variety of real text. Closed relations keep the graph from becoming unqueryable.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3657600" cy="1463040"/>
          </a:xfrm>
          <a:prstGeom prst="rect">
            <a:avLst/>
          </a:prstGeom>
          <a:solidFill>
            <a:srgbClr val="FBF6EE"/>
          </a:solidFill>
          <a:ln w="6350">
            <a:solidFill>
              <a:srgbClr val="D8CF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468880"/>
            <a:ext cx="73152" cy="14630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606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AFFILIATION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971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works_for   ·   member_of   ·   founded_by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51960" y="2468880"/>
            <a:ext cx="3657600" cy="1463040"/>
          </a:xfrm>
          <a:prstGeom prst="rect">
            <a:avLst/>
          </a:prstGeom>
          <a:solidFill>
            <a:srgbClr val="FBF6EE"/>
          </a:solidFill>
          <a:ln w="6350">
            <a:solidFill>
              <a:srgbClr val="D8CF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2468880"/>
            <a:ext cx="73152" cy="1463040"/>
          </a:xfrm>
          <a:prstGeom prst="rect">
            <a:avLst/>
          </a:prstGeom>
          <a:solidFill>
            <a:srgbClr val="5C7558"/>
          </a:solidFill>
          <a:ln w="12700">
            <a:solidFill>
              <a:srgbClr val="5C75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2606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C7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 &amp; CONTAINMENT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80560" y="2971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located_in   ·   headquartered_in   ·   part_of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2468880"/>
            <a:ext cx="3657600" cy="1463040"/>
          </a:xfrm>
          <a:prstGeom prst="rect">
            <a:avLst/>
          </a:prstGeom>
          <a:solidFill>
            <a:srgbClr val="FBF6EE"/>
          </a:solidFill>
          <a:ln w="6350">
            <a:solidFill>
              <a:srgbClr val="D8CF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2468880"/>
            <a:ext cx="73152" cy="1463040"/>
          </a:xfrm>
          <a:prstGeom prst="rect">
            <a:avLst/>
          </a:prstGeom>
          <a:solidFill>
            <a:srgbClr val="B8783A"/>
          </a:solidFill>
          <a:ln w="12700">
            <a:solidFill>
              <a:srgbClr val="B878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2606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7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AUTHORSHIP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2971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created_by   ·   developed_by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160520"/>
            <a:ext cx="3657600" cy="1463040"/>
          </a:xfrm>
          <a:prstGeom prst="rect">
            <a:avLst/>
          </a:prstGeom>
          <a:solidFill>
            <a:srgbClr val="FBF6EE"/>
          </a:solidFill>
          <a:ln w="6350">
            <a:solidFill>
              <a:srgbClr val="D8CF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4160520"/>
            <a:ext cx="73152" cy="1463040"/>
          </a:xfrm>
          <a:prstGeom prst="rect">
            <a:avLst/>
          </a:prstGeom>
          <a:solidFill>
            <a:srgbClr val="3A5A78"/>
          </a:solidFill>
          <a:ln w="12700">
            <a:solidFill>
              <a:srgbClr val="3A5A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A5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CAUSATION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4663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causes   ·   influences   ·   opposes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251960" y="4160520"/>
            <a:ext cx="3657600" cy="1463040"/>
          </a:xfrm>
          <a:prstGeom prst="rect">
            <a:avLst/>
          </a:prstGeom>
          <a:solidFill>
            <a:srgbClr val="FBF6EE"/>
          </a:solidFill>
          <a:ln w="6350">
            <a:solidFill>
              <a:srgbClr val="D8CF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51960" y="4160520"/>
            <a:ext cx="73152" cy="146304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267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80560" y="4663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occurred_at   ·   occurred_on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38160" y="4160520"/>
            <a:ext cx="3657600" cy="1463040"/>
          </a:xfrm>
          <a:prstGeom prst="rect">
            <a:avLst/>
          </a:prstGeom>
          <a:solidFill>
            <a:srgbClr val="FBF6EE"/>
          </a:solidFill>
          <a:ln w="6350">
            <a:solidFill>
              <a:srgbClr val="D8CF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38160" y="4160520"/>
            <a:ext cx="73152" cy="1463040"/>
          </a:xfrm>
          <a:prstGeom prst="rect">
            <a:avLst/>
          </a:prstGeom>
          <a:solidFill>
            <a:srgbClr val="5A4A50"/>
          </a:solidFill>
          <a:ln w="12700">
            <a:solidFill>
              <a:srgbClr val="5A4A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66760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4A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PROPERTIES &amp; FALLBACK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366760" y="4663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has_property   ·   related_to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8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unknown relations are coerced to related_to by the post-extraction normalizer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CS585 · Knowledge 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small monorepo, four pluggable providers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371600" y="2011680"/>
            <a:ext cx="9418320" cy="914400"/>
          </a:xfrm>
          <a:prstGeom prst="rect">
            <a:avLst/>
          </a:prstGeom>
          <a:solidFill>
            <a:srgbClr val="FBF6EE"/>
          </a:solidFill>
          <a:ln w="6350">
            <a:solidFill>
              <a:srgbClr val="D8CF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54480" y="246888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Cytoscape.js · provider dropdown · click-to-inspect side panel · JSON / Turtle export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971800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A8F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POST /api/extract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0" y="3383280"/>
            <a:ext cx="9418320" cy="914400"/>
          </a:xfrm>
          <a:prstGeom prst="rect">
            <a:avLst/>
          </a:prstGeom>
          <a:solidFill>
            <a:srgbClr val="FBF6EE"/>
          </a:solidFill>
          <a:ln w="6350">
            <a:solidFill>
              <a:srgbClr val="D8CF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54480" y="384048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· /api/providers (auto-detection) · /api/extract · /api/export/turtle · normalizer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4343400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A8F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provider adapter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17320" y="4754880"/>
            <a:ext cx="2194560" cy="1280160"/>
          </a:xfrm>
          <a:prstGeom prst="rect">
            <a:avLst/>
          </a:prstGeom>
          <a:solidFill>
            <a:srgbClr val="FBF6EE"/>
          </a:solidFill>
          <a:ln w="6350">
            <a:solidFill>
              <a:srgbClr val="D8CF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17320" y="4754880"/>
            <a:ext cx="2194560" cy="731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00200" y="4937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Anthropic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5349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4A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Sonnet 4.5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4A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(tool use)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94760" y="4754880"/>
            <a:ext cx="2194560" cy="1280160"/>
          </a:xfrm>
          <a:prstGeom prst="rect">
            <a:avLst/>
          </a:prstGeom>
          <a:solidFill>
            <a:srgbClr val="FBF6EE"/>
          </a:solidFill>
          <a:ln w="6350">
            <a:solidFill>
              <a:srgbClr val="D8CF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94760" y="4754880"/>
            <a:ext cx="2194560" cy="73152"/>
          </a:xfrm>
          <a:prstGeom prst="rect">
            <a:avLst/>
          </a:prstGeom>
          <a:solidFill>
            <a:srgbClr val="3A5A78"/>
          </a:solidFill>
          <a:ln w="12700">
            <a:solidFill>
              <a:srgbClr val="3A5A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4937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977640" y="5349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4A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GPT-4o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4A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(JSON schema)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4754880"/>
            <a:ext cx="2194560" cy="1280160"/>
          </a:xfrm>
          <a:prstGeom prst="rect">
            <a:avLst/>
          </a:prstGeom>
          <a:solidFill>
            <a:srgbClr val="FBF6EE"/>
          </a:solidFill>
          <a:ln w="6350">
            <a:solidFill>
              <a:srgbClr val="D8CF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4754880"/>
            <a:ext cx="2194560" cy="73152"/>
          </a:xfrm>
          <a:prstGeom prst="rect">
            <a:avLst/>
          </a:prstGeom>
          <a:solidFill>
            <a:srgbClr val="B8783A"/>
          </a:solidFill>
          <a:ln w="12700">
            <a:solidFill>
              <a:srgbClr val="B878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4937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355080" y="5349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4A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 2.5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4A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(responseSchema)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49640" y="4754880"/>
            <a:ext cx="2194560" cy="1280160"/>
          </a:xfrm>
          <a:prstGeom prst="rect">
            <a:avLst/>
          </a:prstGeom>
          <a:solidFill>
            <a:srgbClr val="FBF6EE"/>
          </a:solidFill>
          <a:ln w="6350">
            <a:solidFill>
              <a:srgbClr val="D8CF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49640" y="4754880"/>
            <a:ext cx="2194560" cy="73152"/>
          </a:xfrm>
          <a:prstGeom prst="rect">
            <a:avLst/>
          </a:prstGeom>
          <a:solidFill>
            <a:srgbClr val="5C7558"/>
          </a:solidFill>
          <a:ln w="12700">
            <a:solidFill>
              <a:srgbClr val="5C755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32520" y="4937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Ollama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732520" y="5349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4A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 3.1 local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4A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(format=json)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CS585 · Knowledge 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THE OUTPUT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JSON schema, all four providers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6858000" cy="4389120"/>
          </a:xfrm>
          <a:prstGeom prst="rect">
            <a:avLst/>
          </a:prstGeom>
          <a:solidFill>
            <a:srgbClr val="2A1B1F"/>
          </a:solidFill>
          <a:ln w="12700">
            <a:solidFill>
              <a:srgbClr val="2A1B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11680"/>
            <a:ext cx="6492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"nodes": [{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"id": "marie_curie",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"label": "Marie Curie",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"type": "Person",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"description": "Polish-born physicist...",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"source_sentences": [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"Marie Curie was a Polish-born..."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}],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"edges": [{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"source": "curie_institute",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"target": "marie_curie",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"relation": "founded_by",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"evidence": "She founded the Curie..."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}]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80960" y="1828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shape?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680960" y="2423160"/>
            <a:ext cx="73152" cy="10058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09560" y="2423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Stable IDs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909560" y="27889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lowercase_with_underscores — also valid as RDF URI fragments.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80960" y="3703320"/>
            <a:ext cx="73152" cy="1005840"/>
          </a:xfrm>
          <a:prstGeom prst="rect">
            <a:avLst/>
          </a:prstGeom>
          <a:solidFill>
            <a:srgbClr val="3A5A78"/>
          </a:solidFill>
          <a:ln w="12700">
            <a:solidFill>
              <a:srgbClr val="3A5A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09560" y="3703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sentences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09560" y="4069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 quotes power the click-to-inspect provenance feature.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680960" y="4983480"/>
            <a:ext cx="73152" cy="1005840"/>
          </a:xfrm>
          <a:prstGeom prst="rect">
            <a:avLst/>
          </a:prstGeom>
          <a:solidFill>
            <a:srgbClr val="B8783A"/>
          </a:solidFill>
          <a:ln w="12700">
            <a:solidFill>
              <a:srgbClr val="B878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09560" y="4983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per edge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909560" y="5349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Discourages hallucination; lets users verify every relation.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CS585 · Knowledge 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THE SYSTEM IN ACTION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371600" y="2011680"/>
            <a:ext cx="9418320" cy="3931920"/>
          </a:xfrm>
          <a:prstGeom prst="rect">
            <a:avLst/>
          </a:prstGeom>
          <a:solidFill>
            <a:srgbClr val="FBF6EE"/>
          </a:solidFill>
          <a:ln w="6350">
            <a:solidFill>
              <a:srgbClr val="D8CF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2011680"/>
            <a:ext cx="9418320" cy="365760"/>
          </a:xfrm>
          <a:prstGeom prst="rect">
            <a:avLst/>
          </a:prstGeom>
          <a:solidFill>
            <a:srgbClr val="2A1B1F"/>
          </a:solidFill>
          <a:ln w="12700">
            <a:solidFill>
              <a:srgbClr val="2A1B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2121408"/>
            <a:ext cx="146304" cy="146304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2121408"/>
            <a:ext cx="146304" cy="146304"/>
          </a:xfrm>
          <a:prstGeom prst="ellipse">
            <a:avLst/>
          </a:prstGeom>
          <a:solidFill>
            <a:srgbClr val="B8783A"/>
          </a:solidFill>
          <a:ln w="12700">
            <a:solidFill>
              <a:srgbClr val="B878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2121408"/>
            <a:ext cx="146304" cy="146304"/>
          </a:xfrm>
          <a:prstGeom prst="ellipse">
            <a:avLst/>
          </a:prstGeom>
          <a:solidFill>
            <a:srgbClr val="5C7558"/>
          </a:solidFill>
          <a:ln w="12700">
            <a:solidFill>
              <a:srgbClr val="5C75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20756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F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localhost:3000  —  Knowledge Graph Extractor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0" y="2606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Graph  Extractor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1645920" y="3154680"/>
            <a:ext cx="8869680" cy="0"/>
          </a:xfrm>
          <a:prstGeom prst="line">
            <a:avLst/>
          </a:prstGeom>
          <a:noFill/>
          <a:ln w="6350">
            <a:solidFill>
              <a:srgbClr val="D8CF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0" y="3383280"/>
            <a:ext cx="27432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83080" y="3520440"/>
            <a:ext cx="256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 Curie was a Polish-born physicist who became the first woman to win a Nobel Prize…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3383280"/>
            <a:ext cx="58521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4023360"/>
            <a:ext cx="1828800" cy="-27432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4023360"/>
            <a:ext cx="-274320" cy="109728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4023360"/>
            <a:ext cx="2286000" cy="118872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52160" y="5120640"/>
            <a:ext cx="274320" cy="-109728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0" y="3749040"/>
            <a:ext cx="1371600" cy="73152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84080" y="5394960"/>
            <a:ext cx="-3657600" cy="-137160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84080" y="5394960"/>
            <a:ext cx="-457200" cy="-91440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89320" y="3886200"/>
            <a:ext cx="274320" cy="2743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41879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 Curie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818120" y="3611880"/>
            <a:ext cx="274320" cy="274320"/>
          </a:xfrm>
          <a:prstGeom prst="ellipse">
            <a:avLst/>
          </a:prstGeom>
          <a:solidFill>
            <a:srgbClr val="3A5A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0" y="39136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Sorbonne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189720" y="4343400"/>
            <a:ext cx="274320" cy="274320"/>
          </a:xfrm>
          <a:prstGeom prst="ellipse">
            <a:avLst/>
          </a:prstGeom>
          <a:solidFill>
            <a:srgbClr val="5C755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0" y="46451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275320" y="5074920"/>
            <a:ext cx="274320" cy="274320"/>
          </a:xfrm>
          <a:prstGeom prst="ellipse">
            <a:avLst/>
          </a:prstGeom>
          <a:solidFill>
            <a:srgbClr val="B878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0" y="53766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radium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715000" y="4983480"/>
            <a:ext cx="274320" cy="2743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52852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Pierre Curie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646920" y="5257800"/>
            <a:ext cx="274320" cy="274320"/>
          </a:xfrm>
          <a:prstGeom prst="ellipse">
            <a:avLst/>
          </a:prstGeom>
          <a:solidFill>
            <a:srgbClr val="3A5A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0" y="55595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Curie Institute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time — switching to the live application.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CS585 · Knowledge 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· EVALUATION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Qualitative comparison across providers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sample texts (biographical, organisational, conceptual) × three providers. Inspected manually for coverage, precision, label discipline, and provenance fidelity.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6032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914400"/>
                <a:gridCol w="109728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8F2E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PROVIDER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2E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NODES / EDGES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2E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PRECISION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2E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DISCIPLINE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2E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PROVENANCE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1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A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Sonnet 4.5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 / 14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C755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C755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C755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A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2.5 Flash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 / 13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C755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C755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C755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A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3.1 (local)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 / 9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78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0.78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78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0.78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A267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0.56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46634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A8F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SAMPLE: MARIE CURIE PARAGRAPH (ILLUSTRATIVE NUMBERS)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772400" y="2560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observations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77240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138160" y="32004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Schema-aware decoding produces markedly cleaner output than format=json prompting.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138160" y="41148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fidelity diverges: commercial APIs quote verbatim; local models paraphrase.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772400" y="5029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138160" y="50292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tends toward finer entity granularity; Gemini is faster but coarser.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CS585 · Knowledge 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· COURSE MAPPING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this project embodies the curriculum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" y="1828800"/>
            <a:ext cx="3657600" cy="4114800"/>
          </a:xfrm>
          <a:prstGeom prst="rect">
            <a:avLst/>
          </a:prstGeom>
          <a:solidFill>
            <a:srgbClr val="FBF6EE"/>
          </a:solidFill>
          <a:ln w="6350">
            <a:solidFill>
              <a:srgbClr val="D8CF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828800"/>
            <a:ext cx="3657600" cy="1371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194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i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Acquisition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9436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A8F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TRADITIONALLY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expert interviews,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authoring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4572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THIS PROJECT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48920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A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LLM call on free text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A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structured output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51960" y="1828800"/>
            <a:ext cx="3657600" cy="4114800"/>
          </a:xfrm>
          <a:prstGeom prst="rect">
            <a:avLst/>
          </a:prstGeom>
          <a:solidFill>
            <a:srgbClr val="FBF6EE"/>
          </a:solidFill>
          <a:ln w="6350">
            <a:solidFill>
              <a:srgbClr val="D8CF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1828800"/>
            <a:ext cx="3657600" cy="137160"/>
          </a:xfrm>
          <a:prstGeom prst="rect">
            <a:avLst/>
          </a:prstGeom>
          <a:solidFill>
            <a:srgbClr val="3A5A78"/>
          </a:solidFill>
          <a:ln w="12700">
            <a:solidFill>
              <a:srgbClr val="3A5A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2194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i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Representation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52628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A8F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TRADITIONALLY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26280" y="3520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Hand-designed ontologies,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schemas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26280" y="4572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A5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THIS PROJECT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26280" y="48920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A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open types,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A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relations,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A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RDF/Turtle export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83880" y="1828800"/>
            <a:ext cx="3657600" cy="4114800"/>
          </a:xfrm>
          <a:prstGeom prst="rect">
            <a:avLst/>
          </a:prstGeom>
          <a:solidFill>
            <a:srgbClr val="FBF6EE"/>
          </a:solidFill>
          <a:ln w="6350">
            <a:solidFill>
              <a:srgbClr val="D8CF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83880" y="1828800"/>
            <a:ext cx="3657600" cy="137160"/>
          </a:xfrm>
          <a:prstGeom prst="rect">
            <a:avLst/>
          </a:prstGeom>
          <a:solidFill>
            <a:srgbClr val="B8783A"/>
          </a:solidFill>
          <a:ln w="12700">
            <a:solidFill>
              <a:srgbClr val="B878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2194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i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Graphs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45820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A8F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TRADITIONALLY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58200" y="3520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of years of curation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(NELL, Cyc, DBpedia)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58200" y="4572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7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THIS PROJECT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58200" y="48920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A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interactive artefact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A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user interface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CS585 · Knowledge 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· HONEST LIMITS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doesn’t do (yet)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5486400" cy="1920240"/>
          </a:xfrm>
          <a:prstGeom prst="rect">
            <a:avLst/>
          </a:prstGeom>
          <a:solidFill>
            <a:srgbClr val="FBF6EE"/>
          </a:solidFill>
          <a:ln w="6350">
            <a:solidFill>
              <a:srgbClr val="D8CF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73152" cy="19202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57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cross-document linking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extraction is independent. Two runs of the Marie Curie text produce two disjoint marie_curie nodes.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3375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 </a:t>
            </a:r>
            <a:pPr indent="0" marL="0">
              <a:buNone/>
            </a:pPr>
            <a:r>
              <a:rPr lang="en-US" sz="1200" i="1" dirty="0">
                <a:solidFill>
                  <a:srgbClr val="2A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persistent triple store with entity resolution.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5486400" cy="1920240"/>
          </a:xfrm>
          <a:prstGeom prst="rect">
            <a:avLst/>
          </a:prstGeom>
          <a:solidFill>
            <a:srgbClr val="FBF6EE"/>
          </a:solidFill>
          <a:ln w="6350">
            <a:solidFill>
              <a:srgbClr val="D8CF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920240"/>
            <a:ext cx="73152" cy="19202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057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Qualitative evaluation only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24688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precision/recall against a gold standard yet — the comparisons in this talk are illustrative.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33375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 </a:t>
            </a:r>
            <a:pPr indent="0" marL="0">
              <a:buNone/>
            </a:pPr>
            <a:r>
              <a:rPr lang="en-US" sz="1200" i="1" dirty="0">
                <a:solidFill>
                  <a:srgbClr val="2A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 three texts; report P/R per provider.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5486400" cy="1920240"/>
          </a:xfrm>
          <a:prstGeom prst="rect">
            <a:avLst/>
          </a:prstGeom>
          <a:solidFill>
            <a:srgbClr val="FBF6EE"/>
          </a:solidFill>
          <a:ln w="6350">
            <a:solidFill>
              <a:srgbClr val="D8CF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069080"/>
            <a:ext cx="73152" cy="19202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206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Fixed relation vocabulary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6177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Fifteen general-purpose relations cover encyclopedic text well, but specialise poorly to biomedicine or law.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54864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 </a:t>
            </a:r>
            <a:pPr indent="0" marL="0">
              <a:buNone/>
            </a:pPr>
            <a:r>
              <a:rPr lang="en-US" sz="1200" i="1" dirty="0">
                <a:solidFill>
                  <a:srgbClr val="2A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User-editable per-project vocabularies.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0" y="4069080"/>
            <a:ext cx="5486400" cy="1920240"/>
          </a:xfrm>
          <a:prstGeom prst="rect">
            <a:avLst/>
          </a:prstGeom>
          <a:solidFill>
            <a:srgbClr val="FBF6EE"/>
          </a:solidFill>
          <a:ln w="6350">
            <a:solidFill>
              <a:srgbClr val="D8CF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4069080"/>
            <a:ext cx="73152" cy="19202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206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2A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Long-text degradation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46520" y="46177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windows handle short passages well; multi-page documents need chunking and merging.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46520" y="54864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 </a:t>
            </a:r>
            <a:pPr indent="0" marL="0">
              <a:buNone/>
            </a:pPr>
            <a:r>
              <a:rPr lang="en-US" sz="1200" i="1" dirty="0">
                <a:solidFill>
                  <a:srgbClr val="2A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extraction with running entity table.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A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i="1" dirty="0">
                <a:solidFill>
                  <a:srgbClr val="F8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bottleneck has not been eliminated.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i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Its shape has changed.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40080" y="4480560"/>
            <a:ext cx="3657600" cy="0"/>
          </a:xfrm>
          <a:prstGeom prst="line">
            <a:avLst/>
          </a:prstGeom>
          <a:noFill/>
          <a:ln w="9525">
            <a:solidFill>
              <a:srgbClr val="A267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6634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8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eliciting facts from experts → to choosing the right representation, prompt, and guard-rails so the LLM is a reliable collaborator.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·  Questions?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A8F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CS585 · KNOWLEDGE ENGINEERING · ANONYMOUS AUTHOR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LLM-Powered Knowledge Graph Extractor</dc:title>
  <dc:subject>PptxGenJS Presentation</dc:subject>
  <dc:creator>CS585 Knowledge Engineering</dc:creator>
  <cp:lastModifiedBy>CS585 Knowledge Engineering</cp:lastModifiedBy>
  <cp:revision>1</cp:revision>
  <dcterms:created xsi:type="dcterms:W3CDTF">2026-04-30T16:21:29Z</dcterms:created>
  <dcterms:modified xsi:type="dcterms:W3CDTF">2026-04-30T16:21:29Z</dcterms:modified>
</cp:coreProperties>
</file>